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0557f8b244345" /><Relationship Type="http://schemas.openxmlformats.org/officeDocument/2006/relationships/extended-properties" Target="/docProps/app.xml" Id="Rbe571cde26fd4b07" /><Relationship Type="http://schemas.openxmlformats.org/officeDocument/2006/relationships/officeDocument" Target="/ppt/presentation.xml" Id="R79ff53e34b784c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d04cd4a62423b"/>
  </p:sldMasterIdLst>
  <p:notesMasterIdLst>
    <p:notesMasterId xmlns:r="http://schemas.openxmlformats.org/officeDocument/2006/relationships" r:id="R1a3d1b25b937457c"/>
  </p:notesMasterIdLst>
  <p:sldIdLst>
    <p:sldId xmlns:r="http://schemas.openxmlformats.org/officeDocument/2006/relationships" id="256" r:id="R8320b5e8452d418f"/>
    <p:sldId xmlns:r="http://schemas.openxmlformats.org/officeDocument/2006/relationships" id="257" r:id="Refc07409f90646ed"/>
    <p:sldId xmlns:r="http://schemas.openxmlformats.org/officeDocument/2006/relationships" id="258" r:id="R7976f4b0bcec4172"/>
    <p:sldId xmlns:r="http://schemas.openxmlformats.org/officeDocument/2006/relationships" id="259" r:id="R098def8de13b49d3"/>
    <p:sldId xmlns:r="http://schemas.openxmlformats.org/officeDocument/2006/relationships" id="260" r:id="R78b17b09c8ed4955"/>
    <p:sldId xmlns:r="http://schemas.openxmlformats.org/officeDocument/2006/relationships" id="261" r:id="Rfb648d00358143f5"/>
    <p:sldId xmlns:r="http://schemas.openxmlformats.org/officeDocument/2006/relationships" id="262" r:id="R7e33ffedd0764613"/>
    <p:sldId xmlns:r="http://schemas.openxmlformats.org/officeDocument/2006/relationships" id="263" r:id="Ra701b53b10a5452c"/>
    <p:sldId xmlns:r="http://schemas.openxmlformats.org/officeDocument/2006/relationships" id="264" r:id="R627ef62eb4484f99"/>
    <p:sldId xmlns:r="http://schemas.openxmlformats.org/officeDocument/2006/relationships" id="265" r:id="R9626185c09034b07"/>
    <p:sldId xmlns:r="http://schemas.openxmlformats.org/officeDocument/2006/relationships" id="266" r:id="Rb03588ff961c4b7e"/>
    <p:sldId xmlns:r="http://schemas.openxmlformats.org/officeDocument/2006/relationships" id="267" r:id="R337ad950fd6c4a3c"/>
    <p:sldId xmlns:r="http://schemas.openxmlformats.org/officeDocument/2006/relationships" id="268" r:id="R56ecaae08b3c448a"/>
    <p:sldId xmlns:r="http://schemas.openxmlformats.org/officeDocument/2006/relationships" id="269" r:id="Rcdaa66af13c2445a"/>
    <p:sldId xmlns:r="http://schemas.openxmlformats.org/officeDocument/2006/relationships" id="270" r:id="R5a6421977efe4105"/>
    <p:sldId xmlns:r="http://schemas.openxmlformats.org/officeDocument/2006/relationships" id="271" r:id="R6b7c1b0463424141"/>
    <p:sldId xmlns:r="http://schemas.openxmlformats.org/officeDocument/2006/relationships" id="272" r:id="Rbebace2b11a04043"/>
    <p:sldId xmlns:r="http://schemas.openxmlformats.org/officeDocument/2006/relationships" id="273" r:id="R290483f381f044cf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1f6a8733a4449" /><Relationship Type="http://schemas.openxmlformats.org/officeDocument/2006/relationships/slideMaster" Target="/ppt/slideMasters/slideMaster1.xml" Id="R4ced04cd4a62423b" /><Relationship Type="http://schemas.openxmlformats.org/officeDocument/2006/relationships/notesMaster" Target="/ppt/notesMasters/notesMaster1.xml" Id="R1a3d1b25b937457c" /><Relationship Type="http://schemas.openxmlformats.org/officeDocument/2006/relationships/presProps" Target="/ppt/presProps.xml" Id="Rb6b313a5bc9a4aa1" /><Relationship Type="http://schemas.openxmlformats.org/officeDocument/2006/relationships/tableStyles" Target="/ppt/tableStyles.xml" Id="R0c1a8ab544c94fbd" /><Relationship Type="http://schemas.openxmlformats.org/officeDocument/2006/relationships/slide" Target="/ppt/slides/slide1.xml" Id="R8320b5e8452d418f" /><Relationship Type="http://schemas.openxmlformats.org/officeDocument/2006/relationships/slide" Target="/ppt/slides/slide2.xml" Id="Refc07409f90646ed" /><Relationship Type="http://schemas.openxmlformats.org/officeDocument/2006/relationships/slide" Target="/ppt/slides/slide3.xml" Id="R7976f4b0bcec4172" /><Relationship Type="http://schemas.openxmlformats.org/officeDocument/2006/relationships/slide" Target="/ppt/slides/slide4.xml" Id="R098def8de13b49d3" /><Relationship Type="http://schemas.openxmlformats.org/officeDocument/2006/relationships/slide" Target="/ppt/slides/slide5.xml" Id="R78b17b09c8ed4955" /><Relationship Type="http://schemas.openxmlformats.org/officeDocument/2006/relationships/slide" Target="/ppt/slides/slide6.xml" Id="Rfb648d00358143f5" /><Relationship Type="http://schemas.openxmlformats.org/officeDocument/2006/relationships/slide" Target="/ppt/slides/slide7.xml" Id="R7e33ffedd0764613" /><Relationship Type="http://schemas.openxmlformats.org/officeDocument/2006/relationships/slide" Target="/ppt/slides/slide8.xml" Id="Ra701b53b10a5452c" /><Relationship Type="http://schemas.openxmlformats.org/officeDocument/2006/relationships/slide" Target="/ppt/slides/slide9.xml" Id="R627ef62eb4484f99" /><Relationship Type="http://schemas.openxmlformats.org/officeDocument/2006/relationships/slide" Target="/ppt/slides/slide10.xml" Id="R9626185c09034b07" /><Relationship Type="http://schemas.openxmlformats.org/officeDocument/2006/relationships/slide" Target="/ppt/slides/slide11.xml" Id="Rb03588ff961c4b7e" /><Relationship Type="http://schemas.openxmlformats.org/officeDocument/2006/relationships/slide" Target="/ppt/slides/slide12.xml" Id="R337ad950fd6c4a3c" /><Relationship Type="http://schemas.openxmlformats.org/officeDocument/2006/relationships/slide" Target="/ppt/slides/slide13.xml" Id="R56ecaae08b3c448a" /><Relationship Type="http://schemas.openxmlformats.org/officeDocument/2006/relationships/slide" Target="/ppt/slides/slide14.xml" Id="Rcdaa66af13c2445a" /><Relationship Type="http://schemas.openxmlformats.org/officeDocument/2006/relationships/slide" Target="/ppt/slides/slide15.xml" Id="R5a6421977efe4105" /><Relationship Type="http://schemas.openxmlformats.org/officeDocument/2006/relationships/slide" Target="/ppt/slides/slide16.xml" Id="R6b7c1b0463424141" /><Relationship Type="http://schemas.openxmlformats.org/officeDocument/2006/relationships/slide" Target="/ppt/slides/slide17.xml" Id="Rbebace2b11a04043" /><Relationship Type="http://schemas.openxmlformats.org/officeDocument/2006/relationships/slide" Target="/ppt/slides/slide18.xml" Id="R290483f381f0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74f88a6c8c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cd940117747b2" /><Relationship Type="http://schemas.openxmlformats.org/officeDocument/2006/relationships/notesMaster" Target="/ppt/notesMasters/notesMaster1.xml" Id="Re71c6228c3ac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1811bd428e48ba" /><Relationship Type="http://schemas.openxmlformats.org/officeDocument/2006/relationships/notesMaster" Target="/ppt/notesMasters/notesMaster1.xml" Id="R805d6c28a4ef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fe625d43f64726" /><Relationship Type="http://schemas.openxmlformats.org/officeDocument/2006/relationships/notesMaster" Target="/ppt/notesMasters/notesMaster1.xml" Id="Rfb5db6a7452c43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40a6f978b429b" /><Relationship Type="http://schemas.openxmlformats.org/officeDocument/2006/relationships/notesMaster" Target="/ppt/notesMasters/notesMaster1.xml" Id="Rf81f60f61d2c48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6d80b1bbe44a81" /><Relationship Type="http://schemas.openxmlformats.org/officeDocument/2006/relationships/notesMaster" Target="/ppt/notesMasters/notesMaster1.xml" Id="R714c01c39f2a4c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7ffbcd79264cd9" /><Relationship Type="http://schemas.openxmlformats.org/officeDocument/2006/relationships/notesMaster" Target="/ppt/notesMasters/notesMaster1.xml" Id="R1aa73c72eb384b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09dde936924065" /><Relationship Type="http://schemas.openxmlformats.org/officeDocument/2006/relationships/notesMaster" Target="/ppt/notesMasters/notesMaster1.xml" Id="R4c181d42434542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717ba1b1b94bc3" /><Relationship Type="http://schemas.openxmlformats.org/officeDocument/2006/relationships/notesMaster" Target="/ppt/notesMasters/notesMaster1.xml" Id="R1a7f303d6cff4f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d27eddb3314ff3" /><Relationship Type="http://schemas.openxmlformats.org/officeDocument/2006/relationships/notesMaster" Target="/ppt/notesMasters/notesMaster1.xml" Id="R26c5316a605043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c505cc08c64d54" /><Relationship Type="http://schemas.openxmlformats.org/officeDocument/2006/relationships/notesMaster" Target="/ppt/notesMasters/notesMaster1.xml" Id="Rb3056087048a42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3103624b56462c" /><Relationship Type="http://schemas.openxmlformats.org/officeDocument/2006/relationships/notesMaster" Target="/ppt/notesMasters/notesMaster1.xml" Id="R3da6d8d6350543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5e2690cda04264" /><Relationship Type="http://schemas.openxmlformats.org/officeDocument/2006/relationships/notesMaster" Target="/ppt/notesMasters/notesMaster1.xml" Id="R92b06c9a88ac48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26a06f79454add" /><Relationship Type="http://schemas.openxmlformats.org/officeDocument/2006/relationships/notesMaster" Target="/ppt/notesMasters/notesMaster1.xml" Id="R277c9638edf640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f14f97a13d4de6" /><Relationship Type="http://schemas.openxmlformats.org/officeDocument/2006/relationships/notesMaster" Target="/ppt/notesMasters/notesMaster1.xml" Id="Rc0781a713e8347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3ddc2aba30437d" /><Relationship Type="http://schemas.openxmlformats.org/officeDocument/2006/relationships/notesMaster" Target="/ppt/notesMasters/notesMaster1.xml" Id="R629f1da4644747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85a5af96124833" /><Relationship Type="http://schemas.openxmlformats.org/officeDocument/2006/relationships/notesMaster" Target="/ppt/notesMasters/notesMaster1.xml" Id="Ra4aa3ff3d3fb44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be5bd06c1a4a05" /><Relationship Type="http://schemas.openxmlformats.org/officeDocument/2006/relationships/notesMaster" Target="/ppt/notesMasters/notesMaster1.xml" Id="Rde36b1dd054f4b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04a560f8b2458d" /><Relationship Type="http://schemas.openxmlformats.org/officeDocument/2006/relationships/notesMaster" Target="/ppt/notesMasters/notesMaster1.xml" Id="Ra44a7eb4300c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デザイン参照: presentations/G-Research_Crypto_Forecasting_6th_place_solution.pptx。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pokemon-tcg-ai-battle/overview.md。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CLAUDE.md、.claude/skills/ideate、experiment、batch-experiments、package。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.claude/skills 配下の8つのSKILL.md。notebooks、episodes、discussions、ideate、experiment、batch-experiments、league、package。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.claude/skills/experiment/SKILL.md、CLAUDE.md。実装、20戦のスモークテスト、各相手200戦以上の本評価、EXP/BACKLOG/INSIGHTS更新までを完了条件とする。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knowledge/experiments/EXP-001.md から EXP-142.md、CLAUDE.md の命名規約。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EXP-001〜016、EXP-007、knowledge/SUBMISSIONS.md。価値関数、BC、REINFORCEは初期に棄却。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EXP-035〜052、knowledge/study/backbone_recipe.md、knowledge/SUBMISSIONS.md。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EXP-057、EXP-094、EXP-122。094はルール版084に80.38%。186の教師は5,309試合、435,150決定。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EXP-012、EXP-016、EXP-095、EXP-096、EXP-101、EXP-103、EXP-114、EXP-124、EXP-132。各手法は異なる世代のエージェントで検証したため、すべてが186との直接比較ではない。PPOはGAE、別の価値モデル、KLアンカー、リーグ自己対戦を実装し、2,000試合×30イテレーションの本走も実施した。Expert Iterationは186を教師に使ったが、方策を変える補正例が少なかった。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agents/186_alakazam_v8/model_186.npz、main.py、nn_186.py。実モデルの n_board は456、n_logsは53。入力は456+53+16+32+2=559次元。コード冒頭の『458』は生成時の説明が残ったもので、スライドはモデルに保存された実値を採用した。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agents/186_alakazam_v8/model_186.npz、main.py、nn_186.py。選択肢はカード埋め込み32次元とoption特徴30次元を64次元へ符号化。LSTM状態を64次元Queryへ射影し内積を取る。MAINでは65クラスのlogitを加算する。総パラメータ数1,315,331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EXP-120〜123、agents/186_alakazam_v8/model_186.npz、INSIGHTS.md。最終モデルに保存された盤面特徴は456次元。稀な特徴では os5_resist_vs_me が199.7σに達していた。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knowledge/SUBMISSIONS.md。186の最高Skill Ratingは1028.8。銀メダルは発表者提供情報。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CLAUDE.md、.claude/skills、knowledge/INSIGHTS.md、BACKLOG.md、experiments。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まとめ。提出はpackage skillでもユーザー承認を必須としていた。課題は目的設定、評価判断、本番投入の責任分担。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32c509722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452d252f724807" /><Relationship Type="http://schemas.openxmlformats.org/officeDocument/2006/relationships/slideLayout" Target="/ppt/slideLayouts/slideLayout1.xml" Id="Rfa6de1fb82134e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de1fb82134e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beeb8311e4a48" /><Relationship Type="http://schemas.openxmlformats.org/officeDocument/2006/relationships/image" Target="/ppt/media/image.png" Id="R7a63c346c4f84c6b" /><Relationship Type="http://schemas.openxmlformats.org/officeDocument/2006/relationships/image" Target="/ppt/media/image2.png" Id="R9f1df2116cb14999" /><Relationship Type="http://schemas.openxmlformats.org/officeDocument/2006/relationships/image" Target="/ppt/media/image3.png" Id="Rff8b18c121c24911" /><Relationship Type="http://schemas.openxmlformats.org/officeDocument/2006/relationships/notesSlide" Target="/ppt/notesSlides/notesSlide1.xml" Id="R822bc25630c24a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fc4eebe834503" /><Relationship Type="http://schemas.openxmlformats.org/officeDocument/2006/relationships/image" Target="/ppt/media/image4.png" Id="Rd6b8e95a4d164633" /><Relationship Type="http://schemas.openxmlformats.org/officeDocument/2006/relationships/notesSlide" Target="/ppt/notesSlides/notesSlide2.xml" Id="Ra74518ced2b943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9ca1ecc364b9f" /><Relationship Type="http://schemas.openxmlformats.org/officeDocument/2006/relationships/image" Target="/ppt/media/image5.png" Id="R731d7e274f6b4ff9" /><Relationship Type="http://schemas.openxmlformats.org/officeDocument/2006/relationships/notesSlide" Target="/ppt/notesSlides/notesSlide3.xml" Id="R919a1ec9eb994d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c06986558473b" /><Relationship Type="http://schemas.openxmlformats.org/officeDocument/2006/relationships/image" Target="/ppt/media/image6.png" Id="Rb837ee31d61c428c" /><Relationship Type="http://schemas.openxmlformats.org/officeDocument/2006/relationships/notesSlide" Target="/ppt/notesSlides/notesSlide4.xml" Id="Rb47dcebfeb2b49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08146da49441b" /><Relationship Type="http://schemas.openxmlformats.org/officeDocument/2006/relationships/image" Target="/ppt/media/image7.png" Id="Rae016c7b462145e6" /><Relationship Type="http://schemas.openxmlformats.org/officeDocument/2006/relationships/notesSlide" Target="/ppt/notesSlides/notesSlide5.xml" Id="R6b6df7bd417c45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7c798d3d44dad" /><Relationship Type="http://schemas.openxmlformats.org/officeDocument/2006/relationships/image" Target="/ppt/media/image8.png" Id="Rdd84ba61dba64e33" /><Relationship Type="http://schemas.openxmlformats.org/officeDocument/2006/relationships/notesSlide" Target="/ppt/notesSlides/notesSlide6.xml" Id="R402d638064824e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5470cac07437c" /><Relationship Type="http://schemas.openxmlformats.org/officeDocument/2006/relationships/image" Target="/ppt/media/image9.png" Id="Rc95b6bd97b78453e" /><Relationship Type="http://schemas.openxmlformats.org/officeDocument/2006/relationships/notesSlide" Target="/ppt/notesSlides/notesSlide7.xml" Id="R226da201cbfb4f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b770edb4f4ec0" /><Relationship Type="http://schemas.openxmlformats.org/officeDocument/2006/relationships/image" Target="/ppt/media/image10.png" Id="Rda7cd560c3854fc7" /><Relationship Type="http://schemas.openxmlformats.org/officeDocument/2006/relationships/notesSlide" Target="/ppt/notesSlides/notesSlide8.xml" Id="Ra905f549158a46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5d500023f4263" /><Relationship Type="http://schemas.openxmlformats.org/officeDocument/2006/relationships/image" Target="/ppt/media/image11.png" Id="R4362d7a41f1948ab" /><Relationship Type="http://schemas.openxmlformats.org/officeDocument/2006/relationships/notesSlide" Target="/ppt/notesSlides/notesSlide9.xml" Id="R6355176197944f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645cee6b84d21" /><Relationship Type="http://schemas.openxmlformats.org/officeDocument/2006/relationships/image" Target="/ppt/media/image12.png" Id="R6adb38c542e74bad" /><Relationship Type="http://schemas.openxmlformats.org/officeDocument/2006/relationships/notesSlide" Target="/ppt/notesSlides/notesSlide10.xml" Id="Ra066d3d249b04a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139d63cee4d43" /><Relationship Type="http://schemas.openxmlformats.org/officeDocument/2006/relationships/image" Target="/ppt/media/image13.png" Id="Rba15e7c4c750422e" /><Relationship Type="http://schemas.openxmlformats.org/officeDocument/2006/relationships/notesSlide" Target="/ppt/notesSlides/notesSlide11.xml" Id="R53e03a370a7e41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111fd79c849d2" /><Relationship Type="http://schemas.openxmlformats.org/officeDocument/2006/relationships/image" Target="/ppt/media/image14.png" Id="R0bc7fcea15424842" /><Relationship Type="http://schemas.openxmlformats.org/officeDocument/2006/relationships/notesSlide" Target="/ppt/notesSlides/notesSlide12.xml" Id="R1cde69ab7c8949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93f0fcaf34ab7" /><Relationship Type="http://schemas.openxmlformats.org/officeDocument/2006/relationships/image" Target="/ppt/media/image15.png" Id="R30ffbb848bd14a50" /><Relationship Type="http://schemas.openxmlformats.org/officeDocument/2006/relationships/notesSlide" Target="/ppt/notesSlides/notesSlide13.xml" Id="R13a3023804bf40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98b9ba42f4912" /><Relationship Type="http://schemas.openxmlformats.org/officeDocument/2006/relationships/image" Target="/ppt/media/image16.png" Id="R993a94237aaa4275" /><Relationship Type="http://schemas.openxmlformats.org/officeDocument/2006/relationships/notesSlide" Target="/ppt/notesSlides/notesSlide14.xml" Id="R2b46616f4c4a4f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05b33e64f4d4c" /><Relationship Type="http://schemas.openxmlformats.org/officeDocument/2006/relationships/image" Target="/ppt/media/image17.png" Id="R86da478dd57e469d" /><Relationship Type="http://schemas.openxmlformats.org/officeDocument/2006/relationships/notesSlide" Target="/ppt/notesSlides/notesSlide15.xml" Id="R661e273d0dc848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2680dc22e4da6" /><Relationship Type="http://schemas.openxmlformats.org/officeDocument/2006/relationships/image" Target="/ppt/media/image18.png" Id="Rf71b06852e3842cf" /><Relationship Type="http://schemas.openxmlformats.org/officeDocument/2006/relationships/notesSlide" Target="/ppt/notesSlides/notesSlide16.xml" Id="R3d7cdc4fe27b40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50ad5d78a40b3" /><Relationship Type="http://schemas.openxmlformats.org/officeDocument/2006/relationships/image" Target="/ppt/media/image19.png" Id="R0fbe6c4d79064ad0" /><Relationship Type="http://schemas.openxmlformats.org/officeDocument/2006/relationships/notesSlide" Target="/ppt/notesSlides/notesSlide17.xml" Id="R69099b21ff5c47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e1504bd4e44f0" /><Relationship Type="http://schemas.openxmlformats.org/officeDocument/2006/relationships/image" Target="/ppt/media/image20.png" Id="Rd48b598915724287" /><Relationship Type="http://schemas.openxmlformats.org/officeDocument/2006/relationships/notesSlide" Target="/ppt/notesSlides/notesSlide18.xml" Id="R28a642f78b8144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3c346c4f84c6b"/>
          <a:stretch xmlns:a="http://schemas.openxmlformats.org/drawingml/2006/main"/>
        </p:blipFill>
        <p:spPr>
          <a:xfrm xmlns:a="http://schemas.openxmlformats.org/drawingml/2006/main">
            <a:off x="6873211" y="0"/>
            <a:ext cx="2255578" cy="13144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df2116cb14999"/>
          <a:stretch xmlns:a="http://schemas.openxmlformats.org/drawingml/2006/main"/>
        </p:blipFill>
        <p:spPr>
          <a:xfrm xmlns:a="http://schemas.openxmlformats.org/drawingml/2006/main">
            <a:off x="0" y="3830531"/>
            <a:ext cx="2095500" cy="1197189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b18c121c24911"/>
          <a:stretch xmlns:a="http://schemas.openxmlformats.org/drawingml/2006/main"/>
        </p:blipFill>
        <p:spPr>
          <a:xfrm xmlns:a="http://schemas.openxmlformats.org/drawingml/2006/main">
            <a:off x="4248150" y="250564"/>
            <a:ext cx="647700" cy="2513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AB4C4-E8E9-4215-B528-FFDA72D2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Kaggleポケカコンペを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A56D6-F82F-471E-A775-C212E054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Claude Codeに任せてみたら、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9CB09-2F98-4066-9718-471B73A8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銀メダルだった</a:t>
            </a:r>
          </a:p>
        </p:txBody>
      </p:sp>
    </p:spTree>
    <p:extLst>
      <p:ext uri="{BB962C8B-B14F-4D97-AF65-F5344CB8AC3E}">
        <p14:creationId xmlns:p14="http://schemas.microsoft.com/office/powerpoint/2010/main" val="1132790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5F04D0-CA19-455B-9071-9D09A2E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Kaggleポケカコンペの概要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5607C-A1D3-4805-B853-3ECBD71C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40BFE-3E8C-46FE-A4A5-EC4D96B9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AIがポケモンカードをプレイし、</a:t>
            </a:r>
          </a:p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対戦結果で強さを競う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5952C-B2E7-43B7-A0FD-B97C932D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各ターン、盤面と合法手を受け取り、</a:t>
            </a:r>
          </a:p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エージェントが次の行動を選択する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0BAE1-811D-453E-9B92-35A16686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不完全情報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4F8D4-3710-47DB-A8BF-16DEF8B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6700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相手の手札や山札は見えない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B627-CD02-48E2-BCB4-03742670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確率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993D4-196F-45F8-9F12-80EAFCC0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3850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ドローとコイントスで展開が変わる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B7608-B28A-4EE0-A675-0E9ECA03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ラダー評価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AF992-5918-454F-A213-71421937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1000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他参加者との対戦でレーティングが動く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055B5-97AF-480D-9C17-6C950AE4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66775"/>
            <a:ext cx="19050" cy="3248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76FD4-113D-4FB3-99A8-C790A434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04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評価の仕組み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2714C-F9CE-48BA-B004-CB435623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14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63A89-EB54-4B8F-9F82-B039EB0D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9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387C1-2436-491D-AF5E-2DD03C22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47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提出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A599E-2A30-486F-9C2B-5D9B0F55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478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1日5回まで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41545-8D79-4CD7-924B-19316573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0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67A3D-4C29-4731-B93D-512E4FB0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9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2F6D5-FCD0-420D-AD7B-7930F4C9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対戦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A8722-7949-4427-B983-005084AB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336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近い実力のエージェントと継続対戦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1A49F-CEF2-4A7F-9850-AE0F286C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86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7FB98-4336-4008-9145-AF6F4F5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9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C8FEE-A857-4C94-B66C-E736B3D1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96E81-3A86-457C-B405-36354908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勝敗でSkill Ratingが変動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2A652-28B9-4414-99D5-6C477556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718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3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F4C9C-9763-4935-8336-2908687B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掲載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80DA3-1A62-4977-843B-40B1830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052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最新2体のうち最高値を表示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8e95a4d164633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9DCC4-82B8-44FA-97C3-1D50121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6585F-1E01-4FAD-9A5A-4228C10E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8796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DA8BD-5E2A-4EBF-8CEE-A4391234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Claude Codeに任せる仕組み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4D7AD-CCE6-4D0A-B95C-B827D833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00FEB-3BBA-4543-8798-38953F9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アイデアから実装・検証・記録までを、同じ手順で繰り返す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A4E5D-5867-4962-947E-D680BCD2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A6ED6-E4FE-4592-8DC1-B96637C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652CB-86B0-4378-969E-4656535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情報収集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2543D-BDAE-498E-9875-6F3482AC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860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Notebook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本番対戦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DB703-358C-44EE-8F7A-DB5BEBC5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162AB-D4F3-43ED-9640-11A9E3AC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04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F2357-9538-49DC-A5EB-D53EADF7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336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アイデア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C1361-CF69-4E9E-9DC0-6706ADF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860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BACKLOGへ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仮説を登録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2D813-C987-4587-BE32-F738A42A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9D8EC-4B91-42D7-BFC5-C263CD9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35072-0C99-4CE6-83CA-5B973C4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実装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73545-41EA-49ED-B0E3-651A5C75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860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別番号で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新規作成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DEC9E-153C-40B1-864D-66A8DF4F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34F1E-F556-4D8C-8AA8-9E31B188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04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E726A-30C6-4E65-844C-162FA73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336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対戦検証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4D6B6-392D-40A4-B5AC-117FC7E0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860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大量対戦で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勝率を測定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81F4A-8867-4E65-8042-3C521364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72F89-AFFB-48C8-AFAB-62096CF5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04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2B1B1-D314-473C-AEA8-49FD77B0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知識化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19887-C0D0-4E18-9244-D6A99C2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86025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結果と失敗を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次へ残す</a:t>
            </a:r>
          </a:p>
        </p:txBody>
      </p:sp>
      <p:cxnSp>
        <p:nvCxnSpPr>
          <p:cNvPr id="66" name=""/>
          <p:cNvCxnSpPr>
            <a:stCxn xmlns:a="http://schemas.openxmlformats.org/drawingml/2006/main" id="4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485900" y="176212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DDF5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5C70D-01BF-4C22-B9A1-89EDC6D2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525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cxnSp>
        <p:nvCxnSpPr>
          <p:cNvPr id="68" name=""/>
          <p:cNvCxnSpPr>
            <a:stCxn xmlns:a="http://schemas.openxmlformats.org/drawingml/2006/main" id="8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3209925" y="176212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DDF5"/>
            </a:solidFill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F82C0-8D8A-461C-81A7-AADAFA86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525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cxnSp>
        <p:nvCxnSpPr>
          <p:cNvPr id="70" name=""/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4933950" y="176212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DDF5"/>
            </a:solidFill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8C220E-A35F-441A-9778-FBB23620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525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cxnSp>
        <p:nvCxnSpPr>
          <p:cNvPr id="72" name=""/>
          <p:cNvCxnSpPr>
            <a:stCxn xmlns:a="http://schemas.openxmlformats.org/drawingml/2006/main" id="16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6657975" y="176212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DDF5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D13A20-C066-4355-974E-2FC9F0AB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525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C959A-5F5F-4BDB-8684-27FF277B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C78D3D-453B-4BBA-8163-B20196B8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CLAUDE.md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1C44AB-E620-4AB3-8BB7-2D683B80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開発規約と判断基準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745B6-3FCF-41C6-8B49-380B7DE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67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Skills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4A54A8-EBE7-450B-8C5C-2C3203BC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実行手順を固定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74CC14-DB56-41D2-8014-BBCBABFD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67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knowledge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24387A-AE81-4D53-A490-370B3C33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433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知見と失敗を蓄積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E1377-6C41-4098-B504-C215248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外部への提出は人が承認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d7e274f6b4ff9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4C2F3A-B8E8-46B3-A5D7-A0F2D67E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956F5E-E1E9-4F06-9E6E-76DC57F1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6150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C8E51-27EF-4CA4-AF14-A6F2F35A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どのようなSkillsを作ったか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9DC74-D001-4BD8-9040-CC65F45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DBD75-0D4D-4227-A1DC-1438A95F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8つのSkillsを、情報収集と研究実行に分けた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F645A-4BA6-4B6B-91A2-3424D7E1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20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5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9953"/>
                </a:solidFill>
                <a:latin typeface="Hiragino Sans"/>
                <a:ea typeface="Hiragino Sans"/>
                <a:cs typeface="Hiragino Sans"/>
              </a:rPr>
              <a:t>情報を集める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A8ABB-FD4C-4017-8FA8-59003326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811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5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D19AE-A80B-4804-92FE-EC0F18A6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/notebooks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F95FE-2516-47DC-9561-99F7AB7B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公開Notebook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0F9F4-C30A-49E8-AE97-B089A6B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/episodes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F9B2F-98E7-455E-8C84-8D4D3ACF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66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本番の対戦ログ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D7AFB-6B73-41CE-943C-1395D3B1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/discussions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C56BE-E95B-4133-9FDB-434BC04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66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運営・参加者情報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29713-3E23-49D3-B5C4-E5E9851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3175"/>
            <a:ext cx="120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研究を進める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77B94-11A7-4297-B435-DD2ADC5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811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E06E7-2D30-48BD-AD13-5B974D7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/ideate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97132-5A73-4970-AF14-CA79DAEE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仮説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7B04A-B37E-4427-889E-00277BC5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/experiment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661E6-B3FF-423C-B1BF-2E2D732F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528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単発実験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53511-0F51-47B5-9D6F-5CBA3D9C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337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/batch-</a:t>
            </a:r>
          </a:p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experiments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64DD7-144D-439D-9D0A-7467AD7D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528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並列実験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D6453-D8F4-4218-8D3B-C63286BB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9337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/league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5622A-ED91-4439-B338-F7EA426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3528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総当たり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940CE-497A-437B-B613-7EF74BAB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/package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BF144-BE12-433A-9CE4-D82583D2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528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検証・梱包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7A0E6-D186-4E73-ADBD-77EF6828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6667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Skillは、読む資料・実行順・完了条件まで定義した手順書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7ee31d61c428c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86F61-2ADF-4DF7-A7BB-30E704D0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6FDDE-45A3-4CAA-90C6-0935C8E8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3759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04E52-9B03-444D-A5E2-C9BF57FF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/experiment が行うこと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F8EA7-B1EA-4017-8317-A184EAA2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F67A8-3133-433F-8F66-A33C35C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1つのアイデアを、比較可能な実験として完了させる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6ECC4-0D02-4C4A-A36D-A794866D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620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BD53-B4D2-4F97-BF00-89ECF505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3620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確かめて残す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A3380-CF63-4BA1-8912-11A305B2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76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D9D06-35C2-49F0-B38E-24A5CF3F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76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F9000-1116-4979-8674-4E487DC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INSIGHTSとBACKLOGを読む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CB6F7-CFFE-46FA-A209-6B3508AA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79B7F-05DD-4B12-83C8-7B5CADC1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14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D77FD-2168-471A-8D6D-8B2E5B11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対象アイデアを in-progress にする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3FDB7-4560-461D-A1B8-C788D709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2DE9F-76E2-4DE9-B508-083432D2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C30EB-06A9-4723-99CC-222643E9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新しい番号でエージェントを実装する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99433-5E35-4428-BA69-3A0374C8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76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5870F-2892-4411-9C87-091B9A7D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76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A52ED-5DA9-4BEB-B746-054210E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478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random相手に20戦し、エラー0を確認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AFB0E-689B-4C0A-B6B0-2B50D58F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3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4EAF3-F170-45E6-AC9D-9F1F0D42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14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C3436-EA22-4D44-9783-548B5B7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860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標準プールの各相手と200戦以上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134C9-9539-45DB-8B77-8A409E9E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52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3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0B43D-5E16-4D2A-80D5-982A4AF9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527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DFF1A-A744-4047-9629-353BA603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242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EXPレポート、知見、次の案を記録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84095-4CEA-48D7-8273-9E6D1E79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95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33D4C-8E5A-474E-AF07-DF37EB7B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68961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9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合否はメタ比率で重み付けした勝率の95%信頼区間で判断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16c7b462145e6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F8562-A2BF-45A3-A081-5B19C8F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49A29-B2B1-49B2-846F-04A9308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2336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DBDFB-425D-401B-8EFE-6B88065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実験の変遷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EA343-B00B-4742-A481-2AC6EB49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ルールベースから模倣学習、そして強化学習へ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4ba61dba64e33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7B147-2040-4A68-8B0A-C0BAD4A2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A94B6-A72F-43AE-A3D5-DBB1423B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67991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461AB-5923-4E49-8FCC-BCC068E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121回の実験を4つの時代で振り返る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19DC5-2971-49F5-BFCE-096C0990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94CFE-38F4-4D30-B7F1-E1108CA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7505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9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50E5F-E9D0-4F35-8644-CAA7D82B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5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4F132-57FC-4A95-8B1E-A9FBA564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038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4BF7C-2F32-486D-BFFA-C7B18267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ルールベース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06ACA-4C1C-42D5-96A2-273A196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人が考えた戦略を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条件文と探索で実装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B7067-F2D6-46CE-A207-E2B79F7B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2AECB-A62B-4895-B3AC-2C687CFE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EE761-47CF-41E6-A855-A2008175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逆設計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F4649-D1F3-48B9-97DC-7A235346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上位の対戦ログから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判断ルールを再構築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0DDC2-DC34-4662-B4D4-28D6DC0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4E7FF-7506-4113-8907-2F1F660B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38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FAEA1-FFA5-49EC-B3A2-A1F7F8C9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模倣学習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ABBFC-1028-4737-9F1D-6BEFE422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強いプレイヤーの手を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モデルが直接学習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B5D2D-B9F9-426E-9DCF-52F8C7AD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0BD20-0222-4F08-9AB0-CE6A6D45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38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9ADFB-B330-4003-A8A6-605D62B0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強化学習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C97F2-DC60-4B8E-8D2C-AB15E8F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教師を超えるために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自己対戦と探索へ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E8327-1CCB-4F7F-9A6C-5FDD5215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実験のたびに新しい番号を振り、元のエージェントを保存した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b6bd97b78453e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1D9ED-15E6-4A9D-847C-D0CD3BB5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F285D-5861-4246-BBF8-6CC35BB6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2548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E5B79-FFDD-4DCE-973E-A9A46A01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第1期　ルールベース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555E9-568D-48D7-8A3C-CA234E46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3E3DF-D635-406B-85FF-3D0D0920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まずは、人間が考えた戦略をコードにする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4E84E-4AAE-4D2F-9AC6-189CFB13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3476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カードと盤面の優先順位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AF4F9-09B3-47FF-8B6A-4D048B0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24100"/>
            <a:ext cx="3476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9D9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デッキ固有の条件分岐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96FA8-D5E5-4FBD-BF75-612D2EDE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57525"/>
            <a:ext cx="3476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勝ちが確定する局面だけ探索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57FD8-317D-479B-8DA6-E0479182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485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代表エージェント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22F6A-4605-4E62-ADEF-550412A1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8478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007 Lucario lethal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71C12-876F-4BD3-B6B4-1C5265EC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24125"/>
            <a:ext cx="2857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lethal限定探索だけが</a:t>
            </a:r>
          </a:p>
          <a:p xmlns:a="http://schemas.openxmlformats.org/drawingml/2006/main">
            <a:pPr algn="ctr">
              <a:def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安定して改善した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66B68-E8B1-4B5F-9625-7E77974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90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広い探索や初期の価値学習は、</a:t>
            </a:r>
          </a:p>
          <a:p xmlns:a="http://schemas.openxmlformats.org/drawingml/2006/main">
            <a:pPr algn="ctr">
              <a:def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手書き方策を超えられなかった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cd560c3854fc7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77BC2-69EC-4569-8FEB-1FC9B9D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E6DE3-B9E1-47D7-90A2-BC3F5CAC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43371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BBAEE-2785-4E59-B9C3-D4B8D96C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第2期　上位エージェントの逆設計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700F3-7E5A-413D-B1EC-34F43A09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4FE18-DBB3-46F6-B840-40E4ED95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強い人の対戦ログから、判断ルールを再構築する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A8E68-28ED-4DEC-BEAE-0C581561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集計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0D80B-6E24-4EEA-B432-96303564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行動頻度と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デッキを復元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8A01A-E17D-438B-B142-D72A8EE3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2D39F-A761-4892-A4A0-298106B3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383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精読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159C6-CDCC-4F42-9B15-CD6F4FD1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勝ち負け両方の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対戦を読む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72888-F38C-4735-8C45-91B4719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DF4CB-C809-45BA-9335-1FA16AE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383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実装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B7536-DD34-4A72-9E61-0AA62CB1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360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条件付きルールへ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落とし込む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2747C-CD62-434D-BFA9-A9B72AEA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AC000-AB95-423D-8A81-BA483FE4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383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較正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14544-B0C8-47E7-BCEE-DA65C888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3360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行動一致率と</a:t>
            </a:r>
          </a:p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対戦で確認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75080-A161-406B-AFA6-98AD7C84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735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D5D52-95DF-49B4-A389-8C843159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9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045 Alakazam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52941-EBE7-4BFC-A70A-A1EFB6E9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勝敗両方を精読し、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方策をゼロから再構築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764A4-55D4-4BFE-97C3-74161CA6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19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051 デッキ2枚変更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14542-FED1-4814-869A-175DF589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10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方策を固定したまま、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60枚の構成だけを改善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2d7a41f1948ab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FC130-94F6-411C-9C25-28ADF3FB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A7844-6776-4634-B59B-69467E2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6712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248B92-AA66-43FE-95EC-3F77D882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第3期　模倣学習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5638E-9B54-4684-8574-5209035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1F3E8-B2C8-406F-B79D-3F032BCC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43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判断ルールの一部を学習で置き換え、最後は全選択をモデル化した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1EE6F-412E-4812-8A13-638AE699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057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2D44A-B604-40A1-A04E-C18F6390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GBT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E04D2-008A-41A0-BF31-F57D8895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主要な判断を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クラス分類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B0081-8B4E-4578-8AA7-E69615CD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145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CC55D-A73D-4D09-B0E8-467E071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95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094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D5EAD-2A8D-40CD-807F-79BE318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811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LSTM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1BD66-1FF6-46D0-901C-18FFC2B9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717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14種類の選択場面を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1モデルで判断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E5A39-6888-4B4C-B1BC-D07F04E0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145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002B7-CDFE-4D39-9595-B56F65C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95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186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A891D-142C-4534-A281-A9FFB517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811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LSTM v8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048B3-93F8-4DA1-8B4D-5EC291ED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特徴と正規化を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総点検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26844-29A0-439E-98ED-DCED12EE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8E909-9483-474E-BA97-B375378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623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5,309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CB92A-0BAC-47EB-832E-D2C8F3DC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教師の対戦数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0C901-E2C7-461A-B5C2-74BCC7E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435,150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A4DB8-FE18-4972-9471-BB08ED9F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教師の意思決定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EE646-7C65-4337-9037-BF69A84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48075"/>
            <a:ext cx="180975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ルール再現版を</a:t>
            </a:r>
          </a:p>
          <a:p xmlns:a="http://schemas.openxmlformats.org/drawingml/2006/main">
            <a:pPr algn="ctr">
              <a:def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大きく上回る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b38c542e74bad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C4E95-A5E7-466F-B815-462B60F1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9098B-818C-4676-99D7-9B6935E5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30322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350C2F-CB7E-448B-8955-20C21ED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第4期　強化学習と探索への挑戦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513E9-72D8-4D04-B4FB-C856C195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5AC45-D1C5-44EF-BA19-25CEE9D7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強化学習と探索を6つの方法で試したが、採用には至らなかった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0D7A4-2269-4CB2-B228-63474D05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方策を勝敗から更新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8F8C3-DB6A-4FDD-B2AC-ACB4C80D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049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良い手を別の方法で作る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EF3E7-750D-464D-A135-1BEB404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0D691-F589-4573-9615-3729106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REINFORCE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C7515-3724-4F6C-B1C9-AB80260E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81175"/>
            <a:ext cx="2181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模倣学習の初期値から自己対戦を12周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E9CDB-3843-42BD-A405-FDA36389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05025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改善なし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0C7A7-A51F-4B2B-BAFF-FB1C2641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B6C39-7CC7-44C8-A5BC-6B1F838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PPO + GAE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133AF-A976-46E4-9B06-B083382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05075"/>
            <a:ext cx="2181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価値モデル・KL制約・リーグで6万試合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1DAC5-14A3-4B47-AE74-18A02DF3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28925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性能が低下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CA804-7BD3-46BE-BC0F-6782B9CC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49235-3139-4BDF-ADBA-B6B6B79E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AWR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92331-8487-448B-8D5F-2F2AE5E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28975"/>
            <a:ext cx="2181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勝敗と価値で教師の手を重み付け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8CEDC-C19F-4696-AD12-B3ADB8F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52825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改善なし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EB0DA-CAF4-4024-849D-97E17660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7DDBF-FDCC-474A-AFC7-80198997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192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価値誘導探索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A10CC-9087-4B71-AD4B-340225F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81175"/>
            <a:ext cx="2181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学習した局面価値で候補手を比較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10601-542C-4060-8C30-E8C2FE83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05025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行動差を識別できず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47CC1-7A20-49BC-97F2-7430C704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77E17-8AD3-489B-A5F9-4D26E8E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431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自己模倣（SIL）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71957-2FF5-4B98-9542-C79DE66A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05075"/>
            <a:ext cx="2181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自分が勝った試合を追加学習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50530-678B-43E3-B21C-F5ED4597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28925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16条件で改善なし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A32F4-1EB7-463F-A616-C3F7DDAE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00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91125-058D-4E88-B205-825334BE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670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Expert Iteration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2B9BF-2DA3-4285-82BA-92B40E5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2181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決定化ロールアウトで教師を補正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E880E-38D0-4C6B-B48D-2D52F93C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52825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補正例が不足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126C9-950B-4A70-92BE-685CBE62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95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5E612-9C9A-4E05-96E1-360F2B6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77152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改善信号の粒度と量が、方策全体を安全に更新するには足りなかった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5e7c4c750422e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B94220-78D6-416C-8335-6EDC34CC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97CCF3-3D30-46E5-B9CB-F5E3C74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9769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A92E-0945-484B-BBAF-34CE7D51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最高スコアのエージェント 186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82E76-BAB3-42BA-9451-8FA7241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強豪の全選択を学んだAlakazamエージェント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7fcea15424842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1AAE4-1AFD-448A-973B-2DCDA43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C2763-24AA-4D26-8AD7-C570B2A0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475728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7ED6B-B246-452A-8977-85E65336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186の入力と記憶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2A4DE-9904-4452-9D06-FB67050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8993B-0A9C-4A77-A402-AEFE8365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現在の盤面に、直前までの選択と相手の行動履歴を重ねる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17BBF-F584-4996-AEBC-B1C104E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盤面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FE1D8-2B34-47DA-9806-7EE66DF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7907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456次元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1BB07-F1C8-456D-9340-59AB45AD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907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手札・場・サイド・山札</a:t>
            </a:r>
          </a:p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相手の公開情報とデッキ推定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55CAE-42CF-43F2-A944-5C50714E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7430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77F7D-3DAE-4ECD-B496-00679244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ログ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EFCE5-377D-4187-BAB9-4A86C0C0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95450"/>
            <a:ext cx="17907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9D9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53次元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D2F2C-2238-4779-B213-25311028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907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前回の決定以降に</a:t>
            </a:r>
          </a:p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相手が行った操作を要約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38603-B5C4-47FE-8BC1-2FA2AA9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430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A20BE-93B2-497B-88D7-7C3E70A1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81125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直前の選択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832A9-ADB3-4A2F-A6F3-16521C1F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17907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34次元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77D83-97ED-4C85-8750-6EA2AA3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カード埋め込み32次元</a:t>
            </a:r>
          </a:p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選択タイプ・対象エリア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6E8FE-33AA-491E-9B8F-A32B51F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7430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8C2D7-855B-4E46-8C0A-53C65F89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文脈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391A1-1FAA-41F6-BA3A-B385D80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17907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AF5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16次元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71E58-C96F-4B6F-BDD8-0A0A2D8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907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攻撃・サーチ・捨て札など</a:t>
            </a:r>
          </a:p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選択場面の種類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EB3A9-65C2-4F13-8F6C-0A81336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合計559次元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77E45-7CE0-4104-986D-756E8B6D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527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05660-AE35-4EA6-AC61-7315501B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0375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2層MLP</a:t>
            </a:r>
          </a:p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256次元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57764-7C15-4828-B1EE-BA11536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527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85458-C3C7-44C8-A486-51C57FC4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0375"/>
            <a:ext cx="1809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2層LSTM</a:t>
            </a:r>
          </a:p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各256ユニット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8B060-0F23-459E-A5E7-44BC70B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527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9D095-9E18-414D-9631-8D4C8E9B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意思決定の履歴を</a:t>
            </a:r>
          </a:p>
          <a:p xmlns:a="http://schemas.openxmlformats.org/drawingml/2006/main">
            <a:pPr algn="ctr">
              <a:def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次の選択へ渡す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397C6-1B93-41B0-AAA6-B6053B2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70104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強制手ではLSTMを進めず、学習時と本番時の系列を一致させる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fbb848bd14a50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4AD6E-6E4E-4B2D-B72A-04DA3B67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F0BC5-C20A-4D2A-B273-3C76D7E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201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5EC9C-727C-4527-AB0E-46FD6041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186が合法手を選ぶ仕組み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2CD3-1C92-4E10-9285-A2B40C0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88B98-8022-41D1-94B8-2C30D166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953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LSTMの状態と各選択肢を別々に符号化し、相性で順位を決める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E279-3037-4246-8791-D2F4C05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局面側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32C3D-A0FA-49F8-A623-286E1E27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24025"/>
            <a:ext cx="1809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LSTM状態</a:t>
            </a:r>
          </a:p>
          <a:p xmlns:a="http://schemas.openxmlformats.org/drawingml/2006/main">
            <a:pPr algn="ctr">
              <a:defRPr sz="14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256次元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AC349-73C5-452C-B84E-E1D9DFD9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57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87953-7A0E-4ADE-B130-AF176B23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43075"/>
            <a:ext cx="1381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Query</a:t>
            </a:r>
          </a:p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64次元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7361F-069F-46F5-B557-5B8ADAF3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線形変換 + 文脈別スケール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36F3C-CC68-4CF1-8967-E447E025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716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選択肢側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9C538-E9B7-4831-9F5F-6243893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24025"/>
            <a:ext cx="2143125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9D9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カード埋め込み 32</a:t>
            </a:r>
          </a:p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+ 選択肢特徴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F06F7-64EC-49ED-B2FF-AAAA5240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57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D3FB8-D76F-4094-A12D-1A9B7068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743075"/>
            <a:ext cx="1143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CEAF5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Option</a:t>
            </a:r>
          </a:p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64次元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9CAE1-C435-4334-A4CF-3A88E1EF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2層MLPで選択肢ごとに符号化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EB3E1-E20C-4BDA-92D6-DF9180E7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77160-7333-4991-A68B-52947E6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内積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56E47-5E3C-4FCE-A310-107269AD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57550"/>
            <a:ext cx="1809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Query × 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C2030-27EE-48D9-A5A4-A0F465E5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479F6-858A-4E51-9059-59B40879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9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MAINのみ</a:t>
            </a:r>
          </a:p>
          <a:p xmlns:a="http://schemas.openxmlformats.org/drawingml/2006/main">
            <a:pPr algn="ctr">
              <a:def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65行動クラスの補正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E9800-2C1E-4C49-A90C-EF89870C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86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A243D-03D6-44E1-94A0-D497D54E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7182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合法手を順位付けし</a:t>
            </a:r>
          </a:p>
          <a:p xmlns:a="http://schemas.openxmlformats.org/drawingml/2006/main">
            <a:pPr algn="ctr">
              <a:def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上位を選択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257BA-5776-44E8-8F39-B1E78BB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7429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可変個の選択肢を同じモデルで扱う pointer 型方策。ルール・GBT・探索は使わない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a94237aaa4275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03D48-3DE1-4123-A806-AC4E50A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D3C09-4EE4-48A5-A54F-B9F7136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898541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14FDA-3CFE-4C6E-9B4D-C658EA1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186に至る最後の改善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25192-BB09-49D3-9BF2-D77A9CFB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97458-158C-44E8-9455-C08EB65B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186では、入力と学習条件の整合を優先した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7E462-BF6A-40E6-A8F0-8CE4353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47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データ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711A3-0137-474D-AD18-5CA255B1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573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教師データを8月7日まで拡張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F761E-5322-4DFE-BB18-58E4120B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4573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5,309試合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6A746-A161-4B6A-977F-CF651B3B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47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特徴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52563-457C-4AFA-A1A3-932AE861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241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重複・定数・根拠の薄い列を整理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21306-FB50-4C4B-A770-974A674C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2410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506 → 456次元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1B3AB-E848-4B7F-8E1D-C59F035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47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正規化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01291-A13D-4A18-B534-2AC5483D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稀な特徴が極端な値になる欠陥を修正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03467-1204-4B4B-9514-5D8F6131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1908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63B47"/>
                </a:solidFill>
                <a:latin typeface="Hiragino Sans"/>
                <a:ea typeface="Hiragino Sans"/>
                <a:cs typeface="Hiragino Sans"/>
              </a:rPr>
              <a:t>修正前 最大199.7σ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01297-8126-4E9F-99F4-2935B43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教師データの範囲、特徴量の定義、正規化をそろえて学習した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a478dd57e469d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C1B4E-4D44-4C71-9F8D-4FE62515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3F1AA-D7CC-4CE9-BE2D-C5B27B6F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378063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CA067-0CF0-40D5-9271-69354180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3A42F-F14B-48AF-96BC-1243F57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A195F-3C99-4438-96CF-B4BADE42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6677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銀メダル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7CFD1-864E-468F-AA90-25993F0A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906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7D66C-9D00-4BB1-B265-139E8BB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24050-F5B3-4FE8-AFA7-39F7F998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146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1028.8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D3A49-430A-4564-B18F-DE923F94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186の最高Skill 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F176E-0682-4662-B6A2-81687847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14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121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0C4CB-6201-452F-8C8B-F44A9073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2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実験レポート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5C5DB-D2E5-4ADD-A029-112230AF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146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228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CDB85-4B9C-4605-84D2-B759D361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作成したエージェント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E9D91-41E9-4513-A48B-A9EC3F0A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0"/>
            <a:ext cx="5562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最高スコアを記録したのは、模倣学習エージェント186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F1991-2CE2-40F7-BB52-424C42F0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同一バイナリでもレートは変動。1028.8は最高観測値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06852e3842cf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42F61-4158-4A76-8CA4-BBCC8EA5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78998-7ABE-4702-88A8-2C8BB22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23748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74BCE-391B-4811-B2E5-E83C1E4F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学び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E4E18-7FA8-47DF-BB9A-332B911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7A4C-AB30-473F-B60B-3112F86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Claude Codeに研究を任せるために必要だったもの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3FED2-F58F-4DA9-98C6-0A4C0DA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38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A1CDD-C31C-41F1-89EF-7662985F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382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制約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91ADD-19F0-4878-B215-FB237807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何を守るか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D21B7-9174-4FB6-B497-59059607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実験条件と合否基準を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CLAUDE.mdに固定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5F523-0F2C-4F84-B968-ECFDF22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38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E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CD42F-913D-4FB5-8CC6-32E52C2C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382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記憶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AFD79-6C9D-433B-8506-0595C370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812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何を学んだか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DDF29-7CC6-401B-8C65-BFC83612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1937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成功だけでなく棄却理由も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knowledgeに残す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C4854-DB94-45EB-93F0-7DA8CDE4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38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7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A3810-E152-4BA3-844D-BFC4F740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382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検証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D65A4-1EC5-4606-B55C-BAF65623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本当に強くなったか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FE411-E00A-46E6-A691-94CD607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コード完成ではなく</a:t>
            </a:r>
          </a:p>
          <a:p xmlns:a="http://schemas.openxmlformats.org/drawingml/2006/main">
            <a:pPr algn="ctr">
              <a:def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77777"/>
                </a:solidFill>
                <a:latin typeface="Hiragino Sans"/>
                <a:ea typeface="Hiragino Sans"/>
                <a:cs typeface="Hiragino Sans"/>
              </a:rPr>
              <a:t>対戦結果で採否を決める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9D342-2D8E-46F3-94F4-6C47D516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74295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判断基準と記憶を与えることで、自律的に研究を進められた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e6c4d79064ad0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2E20C-8102-47A2-A959-18503DC7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3176F-8D98-4E11-851A-A4B4B77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863259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B49B6-5E6F-4C13-8AAF-56A2621A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課題とまとめ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CD5C4-E050-4BF2-B32D-9E4EC7D5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"/>
            <a:ext cx="872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F4F0A-53AD-481B-B444-9E4F7F13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66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任せられたこと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5DB69-6E41-4A80-9F75-DCB7C34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66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人が担ったこと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C5E04-5D4A-42C1-ABD3-7EB3E453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954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60C30-33AE-42A3-81D6-AD8A3C57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573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大量のアイデアを実装する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F0563-C197-4117-B100-DAA00793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859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9D193-BBFE-4247-8D47-625B8D5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47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定めた手順で対戦検証する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49961-373F-4EFF-BA87-C2C3FAB0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BE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20BEF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85476-ECF2-4F3B-A9C9-2AEFEEF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384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結果と失敗を次の実験へ戻す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19EB7-2193-4B9D-925F-FEF47E7B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954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C7406-E453-49AC-A9E5-A053EA55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4573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何を目的にするか決める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095EF-18DB-4211-B566-8CEA7493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859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3B4B4-DB54-4D84-91FB-E760F4F9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47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どの評価を信じるか判断する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B2C33-07F0-40FB-9E9A-B31B20E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765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A73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A73B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1701D-CC5C-47CD-A317-FCD6E2B6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384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262626"/>
                </a:solidFill>
                <a:latin typeface="Hiragino Sans"/>
                <a:ea typeface="Hiragino Sans"/>
                <a:cs typeface="Hiragino Sans"/>
              </a:rPr>
              <a:t>最終的な提出を承認する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D6D49-8B89-42F6-9705-C5A9FC90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43025"/>
            <a:ext cx="95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F3893-59D6-4536-89C7-4A8BE990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685800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Claude Codeには実装だけでなく、</a:t>
            </a:r>
          </a:p>
          <a:p xmlns:a="http://schemas.openxmlformats.org/drawingml/2006/main">
            <a:pPr algn="ctr">
              <a:defRPr sz="17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580B2"/>
                </a:solidFill>
                <a:latin typeface="Hiragino Sans"/>
                <a:ea typeface="Hiragino Sans"/>
                <a:cs typeface="Hiragino Sans"/>
              </a:rPr>
              <a:t>失敗から学んで次へ進む研究プロセスまで任せた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b598915724287"/>
          <a:stretch xmlns:a="http://schemas.openxmlformats.org/drawingml/2006/main"/>
        </p:blipFill>
        <p:spPr>
          <a:xfrm xmlns:a="http://schemas.openxmlformats.org/drawingml/2006/main">
            <a:off x="194163" y="4838700"/>
            <a:ext cx="392723" cy="1524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72245-CA80-42A5-8C6E-EAF3A3C1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Kaggle Pokémon TCG AI Battle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07F9E-4588-4B06-8209-3F05FC3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defRPr>
            </a:pPr>
            <a:r>
              <a:rPr sz="600" b="0">
                <a:solidFill>
                  <a:srgbClr val="B6B6B6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6234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2026-09-09T14:34:34.1160000Z</dcterms:created>
  <dcterms:modified xsi:type="dcterms:W3CDTF">2026-09-09T14:34:34.1160000Z</dcterms:modified>
</coreProperties>
</file>