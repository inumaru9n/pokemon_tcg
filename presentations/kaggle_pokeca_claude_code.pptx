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59"/>
  </p:normalViewPr>
  <p:slideViewPr>
    <p:cSldViewPr snapToGrid="0">
      <p:cViewPr varScale="1">
        <p:scale>
          <a:sx n="189" d="100"/>
          <a:sy n="189" d="100"/>
        </p:scale>
        <p:origin x="11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デザイン参照: presentations/G-Research_Crypto_Forecasting_6th_place_solution.pptx。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pokemon-tcg-ai-battle/overview.md。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CLAUDE.md、.claude/skills/ideate、experiment、batch-experiments、package。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.claude/skills 配下の8つのSKILL.md。notebooks、episodes、discussions、ideate、experiment、batch-experiments、league、package。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.claude/skills/experiment/SKILL.md、CLAUDE.md。実装、20戦のスモークテスト、各相手200戦以上の本評価、EXP/BACKLOG/INSIGHTS更新までを完了条件とする。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knowledge/experiments/EXP-001.md から EXP-142.md、CLAUDE.md の命名規約。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EXP-001〜016、EXP-007、knowledge/SUBMISSIONS.md。価値関数、BC、REINFORCEは初期に棄却。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EXP-035〜052、knowledge/study/backbone_recipe.md、knowledge/SUBMISSIONS.md。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EXP-057、EXP-094、EXP-122。094はルール版084に80.38%。186の教師は5,309試合、435,150決定。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EXP-012、EXP-016、EXP-095、EXP-096、EXP-101、EXP-103、EXP-114、EXP-124、EXP-132。各手法は異なる世代のエージェントで検証したため、すべてが186との直接比較ではない。PPOはGAE、別の価値モデル、KLアンカー、リーグ自己対戦を実装し、2,000試合×30イテレーションの本走も実施した。Expert Iterationは186を教師に使ったが、方策を変える補正例が少なかった。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agents/186_alakazam_v8/model_186.npz、main.py、nn_186.py。実モデルの n_board は456、n_logsは53。入力は456+53+16+32+2=559次元。コード冒頭の『458』は生成時の説明が残ったもので、スライドはモデルに保存された実値を採用した。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agents/186_alakazam_v8/model_186.npz、main.py、nn_186.py。選択肢はカード埋め込み32次元とoption特徴30次元を64次元へ符号化。LSTM状態を64次元Queryへ射影し内積を取る。MAINでは65クラスのlogitを加算する。総パラメータ数1,315,331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EXP-120〜123、agents/186_alakazam_v8/model_186.npz、INSIGHTS.md。最終モデルに保存された盤面特徴は456次元。稀な特徴では os5_resist_vs_me が199.7σに達していた。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knowledge/SUBMISSIONS.md。186の最高Skill Ratingは1028.8。銀メダルは発表者提供情報。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出典: CLAUDE.md、.claude/skills、knowledge/INSIGHTS.md、BACKLOG.md、experiments。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まとめ。提出はpackage skillでもユーザー承認を必須としていた。課題は目的設定、評価判断、本番投入の責任分担。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kaggle.com/competitions/pokemon-tcg-ai-battl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73211" y="0"/>
            <a:ext cx="2255578" cy="1314450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3830531"/>
            <a:ext cx="2095500" cy="1197189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248150" y="250564"/>
            <a:ext cx="647700" cy="25134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68AB4C4-E8E9-4215-B528-FFDA72D289CB}"/>
              </a:ext>
            </a:extLst>
          </p:cNvPr>
          <p:cNvSpPr>
            <a:spLocks noGrp="1"/>
          </p:cNvSpPr>
          <p:nvPr/>
        </p:nvSpPr>
        <p:spPr>
          <a:xfrm>
            <a:off x="1524000" y="1600200"/>
            <a:ext cx="6096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21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Kaggleポケカコンペを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01A56D6-F82F-471E-A775-C212E054C4CC}"/>
              </a:ext>
            </a:extLst>
          </p:cNvPr>
          <p:cNvSpPr>
            <a:spLocks noGrp="1"/>
          </p:cNvSpPr>
          <p:nvPr/>
        </p:nvSpPr>
        <p:spPr>
          <a:xfrm>
            <a:off x="1095375" y="2095500"/>
            <a:ext cx="695325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26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Claude Codeに任せてみたら、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3A9CB09-2F98-4066-9718-471B73A847CB}"/>
              </a:ext>
            </a:extLst>
          </p:cNvPr>
          <p:cNvSpPr>
            <a:spLocks noGrp="1"/>
          </p:cNvSpPr>
          <p:nvPr/>
        </p:nvSpPr>
        <p:spPr>
          <a:xfrm>
            <a:off x="2190750" y="2724150"/>
            <a:ext cx="4762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銀メダルだった</a:t>
            </a:r>
          </a:p>
        </p:txBody>
      </p:sp>
    </p:spTree>
    <p:extLst>
      <p:ext uri="{BB962C8B-B14F-4D97-AF65-F5344CB8AC3E}">
        <p14:creationId xmlns:p14="http://schemas.microsoft.com/office/powerpoint/2010/main" val="1132790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15F04D0-CA19-455B-9071-9D09A2E27208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Kaggleポケカコンペの概要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975607C-A1D3-4805-B853-3ECBD71CDB65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E040BFE-3E8C-46FE-A4A5-EC4D96B996B6}"/>
              </a:ext>
            </a:extLst>
          </p:cNvPr>
          <p:cNvSpPr>
            <a:spLocks noGrp="1"/>
          </p:cNvSpPr>
          <p:nvPr/>
        </p:nvSpPr>
        <p:spPr>
          <a:xfrm>
            <a:off x="590550" y="819150"/>
            <a:ext cx="409575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AIがポケモンカードをプレイし、</a:t>
            </a:r>
          </a:p>
          <a:p>
            <a:pPr algn="l">
              <a:defRPr sz="20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対戦結果で強さを競う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695952C-B2E7-43B7-A0FD-B97C932DF62A}"/>
              </a:ext>
            </a:extLst>
          </p:cNvPr>
          <p:cNvSpPr>
            <a:spLocks noGrp="1"/>
          </p:cNvSpPr>
          <p:nvPr/>
        </p:nvSpPr>
        <p:spPr>
          <a:xfrm>
            <a:off x="590550" y="1714500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各ターン、盤面と合法手を受け取り、</a:t>
            </a:r>
          </a:p>
          <a:p>
            <a:pPr algn="l">
              <a:defRPr sz="12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エージェントが次の行動を選択する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1D0BAE1-811D-453E-9B92-35A1668661A2}"/>
              </a:ext>
            </a:extLst>
          </p:cNvPr>
          <p:cNvSpPr>
            <a:spLocks noGrp="1"/>
          </p:cNvSpPr>
          <p:nvPr/>
        </p:nvSpPr>
        <p:spPr>
          <a:xfrm>
            <a:off x="666750" y="2667000"/>
            <a:ext cx="1190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不完全情報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44F8D4-3710-47DB-A8BF-16DEF8B1D82D}"/>
              </a:ext>
            </a:extLst>
          </p:cNvPr>
          <p:cNvSpPr>
            <a:spLocks noGrp="1"/>
          </p:cNvSpPr>
          <p:nvPr/>
        </p:nvSpPr>
        <p:spPr>
          <a:xfrm>
            <a:off x="1971675" y="2667000"/>
            <a:ext cx="319087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相手の手札や山札は見えない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E19B627-CD02-48E2-BCB4-03742670CA67}"/>
              </a:ext>
            </a:extLst>
          </p:cNvPr>
          <p:cNvSpPr>
            <a:spLocks noGrp="1"/>
          </p:cNvSpPr>
          <p:nvPr/>
        </p:nvSpPr>
        <p:spPr>
          <a:xfrm>
            <a:off x="666750" y="3238500"/>
            <a:ext cx="1190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確率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CD993D4-196F-45F8-9F12-80EAFCC03BB7}"/>
              </a:ext>
            </a:extLst>
          </p:cNvPr>
          <p:cNvSpPr>
            <a:spLocks noGrp="1"/>
          </p:cNvSpPr>
          <p:nvPr/>
        </p:nvSpPr>
        <p:spPr>
          <a:xfrm>
            <a:off x="1971675" y="3238500"/>
            <a:ext cx="319087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ドローとコイントスで展開が変わる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B0B7608-B28A-4EE0-A675-0E9ECA03EED8}"/>
              </a:ext>
            </a:extLst>
          </p:cNvPr>
          <p:cNvSpPr>
            <a:spLocks noGrp="1"/>
          </p:cNvSpPr>
          <p:nvPr/>
        </p:nvSpPr>
        <p:spPr>
          <a:xfrm>
            <a:off x="666750" y="3810000"/>
            <a:ext cx="119062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ラダー評価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9FAF992-5918-454F-A213-71421937A963}"/>
              </a:ext>
            </a:extLst>
          </p:cNvPr>
          <p:cNvSpPr>
            <a:spLocks noGrp="1"/>
          </p:cNvSpPr>
          <p:nvPr/>
        </p:nvSpPr>
        <p:spPr>
          <a:xfrm>
            <a:off x="1971675" y="3810000"/>
            <a:ext cx="319087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他参加者との対戦でレーティングが動く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38055B5-97AF-480D-9C17-6C950AE4B476}"/>
              </a:ext>
            </a:extLst>
          </p:cNvPr>
          <p:cNvSpPr>
            <a:spLocks noGrp="1"/>
          </p:cNvSpPr>
          <p:nvPr/>
        </p:nvSpPr>
        <p:spPr>
          <a:xfrm>
            <a:off x="5638800" y="866775"/>
            <a:ext cx="19050" cy="324802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E476FD4-113D-4FB3-99A8-C790A434CF37}"/>
              </a:ext>
            </a:extLst>
          </p:cNvPr>
          <p:cNvSpPr>
            <a:spLocks noGrp="1"/>
          </p:cNvSpPr>
          <p:nvPr/>
        </p:nvSpPr>
        <p:spPr>
          <a:xfrm>
            <a:off x="6048375" y="90487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評価の仕組み</a:t>
            </a:r>
          </a:p>
        </p:txBody>
      </p:sp>
      <p:sp>
        <p:nvSpPr>
          <p:cNvPr id="13" name="円/楕円 12">
            <a:extLst>
              <a:ext uri="{FF2B5EF4-FFF2-40B4-BE49-F238E27FC236}">
                <a16:creationId xmlns:a16="http://schemas.microsoft.com/office/drawing/2014/main" id="{9FB2714C-F9CE-48BA-B004-CB43562395D3}"/>
              </a:ext>
            </a:extLst>
          </p:cNvPr>
          <p:cNvSpPr>
            <a:spLocks noGrp="1"/>
          </p:cNvSpPr>
          <p:nvPr/>
        </p:nvSpPr>
        <p:spPr>
          <a:xfrm>
            <a:off x="6076950" y="1514475"/>
            <a:ext cx="142875" cy="142875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BC63A89-EB54-4B8F-9F82-B039EB0D65E8}"/>
              </a:ext>
            </a:extLst>
          </p:cNvPr>
          <p:cNvSpPr>
            <a:spLocks noGrp="1"/>
          </p:cNvSpPr>
          <p:nvPr/>
        </p:nvSpPr>
        <p:spPr>
          <a:xfrm>
            <a:off x="6134100" y="1676400"/>
            <a:ext cx="19050" cy="457200"/>
          </a:xfrm>
          <a:prstGeom prst="rect">
            <a:avLst/>
          </a:prstGeom>
          <a:solidFill>
            <a:srgbClr val="BFE9F7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2E387C1-2436-491D-AF5E-2DD03C228CEA}"/>
              </a:ext>
            </a:extLst>
          </p:cNvPr>
          <p:cNvSpPr>
            <a:spLocks noGrp="1"/>
          </p:cNvSpPr>
          <p:nvPr/>
        </p:nvSpPr>
        <p:spPr>
          <a:xfrm>
            <a:off x="6400800" y="1447800"/>
            <a:ext cx="7429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提出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C1A599E-2A30-486F-9C2B-5D9B0F55B019}"/>
              </a:ext>
            </a:extLst>
          </p:cNvPr>
          <p:cNvSpPr>
            <a:spLocks noGrp="1"/>
          </p:cNvSpPr>
          <p:nvPr/>
        </p:nvSpPr>
        <p:spPr>
          <a:xfrm>
            <a:off x="7105650" y="1447800"/>
            <a:ext cx="16668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975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初期レーティング</a:t>
            </a:r>
            <a:r>
              <a:rPr lang="en-US" altLang="ja-JP" sz="975" dirty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=600</a:t>
            </a:r>
            <a:endParaRPr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02D41545-8D79-4CD7-924B-1931657372B7}"/>
              </a:ext>
            </a:extLst>
          </p:cNvPr>
          <p:cNvSpPr>
            <a:spLocks noGrp="1"/>
          </p:cNvSpPr>
          <p:nvPr/>
        </p:nvSpPr>
        <p:spPr>
          <a:xfrm>
            <a:off x="6076950" y="2200275"/>
            <a:ext cx="142875" cy="142875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0D67A3D-4C29-4731-B93D-512E4FB0B53E}"/>
              </a:ext>
            </a:extLst>
          </p:cNvPr>
          <p:cNvSpPr>
            <a:spLocks noGrp="1"/>
          </p:cNvSpPr>
          <p:nvPr/>
        </p:nvSpPr>
        <p:spPr>
          <a:xfrm>
            <a:off x="6134100" y="2362200"/>
            <a:ext cx="19050" cy="457200"/>
          </a:xfrm>
          <a:prstGeom prst="rect">
            <a:avLst/>
          </a:prstGeom>
          <a:solidFill>
            <a:srgbClr val="BFE9F7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C42F6D5-FCD0-420D-AD7B-7930F4C969E4}"/>
              </a:ext>
            </a:extLst>
          </p:cNvPr>
          <p:cNvSpPr>
            <a:spLocks noGrp="1"/>
          </p:cNvSpPr>
          <p:nvPr/>
        </p:nvSpPr>
        <p:spPr>
          <a:xfrm>
            <a:off x="6400800" y="2133600"/>
            <a:ext cx="7429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対戦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C6A8722-7949-4427-B983-005084ABE31A}"/>
              </a:ext>
            </a:extLst>
          </p:cNvPr>
          <p:cNvSpPr>
            <a:spLocks noGrp="1"/>
          </p:cNvSpPr>
          <p:nvPr/>
        </p:nvSpPr>
        <p:spPr>
          <a:xfrm>
            <a:off x="7105650" y="2133600"/>
            <a:ext cx="16668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近い</a:t>
            </a:r>
            <a:r>
              <a:rPr lang="ja-JP" altLang="en-US"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レーティング</a:t>
            </a:r>
            <a:r>
              <a:rPr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の</a:t>
            </a:r>
            <a:endParaRPr lang="en-US"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エージェントと継続対戦</a:t>
            </a:r>
            <a:endParaRPr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1" name="円/楕円 20">
            <a:extLst>
              <a:ext uri="{FF2B5EF4-FFF2-40B4-BE49-F238E27FC236}">
                <a16:creationId xmlns:a16="http://schemas.microsoft.com/office/drawing/2014/main" id="{CF31A49F-CEF2-4A7F-9850-AE0F286CB30C}"/>
              </a:ext>
            </a:extLst>
          </p:cNvPr>
          <p:cNvSpPr>
            <a:spLocks noGrp="1"/>
          </p:cNvSpPr>
          <p:nvPr/>
        </p:nvSpPr>
        <p:spPr>
          <a:xfrm>
            <a:off x="6076950" y="2886075"/>
            <a:ext cx="142875" cy="142875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2847FB98-4336-4008-9145-AF6F4F599FE6}"/>
              </a:ext>
            </a:extLst>
          </p:cNvPr>
          <p:cNvSpPr>
            <a:spLocks noGrp="1"/>
          </p:cNvSpPr>
          <p:nvPr/>
        </p:nvSpPr>
        <p:spPr>
          <a:xfrm>
            <a:off x="6134100" y="3048000"/>
            <a:ext cx="19050" cy="457200"/>
          </a:xfrm>
          <a:prstGeom prst="rect">
            <a:avLst/>
          </a:prstGeom>
          <a:solidFill>
            <a:srgbClr val="BFE9F7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7BC8FEE-A857-4C94-B66C-E736B3D11B76}"/>
              </a:ext>
            </a:extLst>
          </p:cNvPr>
          <p:cNvSpPr>
            <a:spLocks noGrp="1"/>
          </p:cNvSpPr>
          <p:nvPr/>
        </p:nvSpPr>
        <p:spPr>
          <a:xfrm>
            <a:off x="6400800" y="2819400"/>
            <a:ext cx="7429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更新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3296E81-3A86-457C-B405-36354908C909}"/>
              </a:ext>
            </a:extLst>
          </p:cNvPr>
          <p:cNvSpPr>
            <a:spLocks noGrp="1"/>
          </p:cNvSpPr>
          <p:nvPr/>
        </p:nvSpPr>
        <p:spPr>
          <a:xfrm>
            <a:off x="7105650" y="2819400"/>
            <a:ext cx="17526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勝敗で</a:t>
            </a:r>
            <a:r>
              <a:rPr lang="en-US"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レーティング</a:t>
            </a:r>
            <a:r>
              <a:rPr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が変動</a:t>
            </a:r>
            <a:endParaRPr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5" name="円/楕円 24">
            <a:extLst>
              <a:ext uri="{FF2B5EF4-FFF2-40B4-BE49-F238E27FC236}">
                <a16:creationId xmlns:a16="http://schemas.microsoft.com/office/drawing/2014/main" id="{A2D2A652-28B9-4414-99D5-6C477556467A}"/>
              </a:ext>
            </a:extLst>
          </p:cNvPr>
          <p:cNvSpPr>
            <a:spLocks noGrp="1"/>
          </p:cNvSpPr>
          <p:nvPr/>
        </p:nvSpPr>
        <p:spPr>
          <a:xfrm>
            <a:off x="6076950" y="3571875"/>
            <a:ext cx="142875" cy="142875"/>
          </a:xfrm>
          <a:prstGeom prst="ellipse">
            <a:avLst/>
          </a:prstGeom>
          <a:solidFill>
            <a:srgbClr val="18A73B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4AF4C9C-9763-4935-8336-2908687B6D5A}"/>
              </a:ext>
            </a:extLst>
          </p:cNvPr>
          <p:cNvSpPr>
            <a:spLocks noGrp="1"/>
          </p:cNvSpPr>
          <p:nvPr/>
        </p:nvSpPr>
        <p:spPr>
          <a:xfrm>
            <a:off x="6400800" y="3505200"/>
            <a:ext cx="7429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掲載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DDA80DA3-1A62-4977-843B-40B1830D0753}"/>
              </a:ext>
            </a:extLst>
          </p:cNvPr>
          <p:cNvSpPr>
            <a:spLocks noGrp="1"/>
          </p:cNvSpPr>
          <p:nvPr/>
        </p:nvSpPr>
        <p:spPr>
          <a:xfrm>
            <a:off x="7105650" y="3505200"/>
            <a:ext cx="17716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 dirty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最新2体のうち</a:t>
            </a:r>
            <a:r>
              <a:rPr lang="ja-JP" altLang="en-US"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高い方の</a:t>
            </a:r>
            <a:endParaRPr lang="en-US" altLang="ja-JP"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レーティングでランキング</a:t>
            </a:r>
            <a:endParaRPr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pic>
        <p:nvPicPr>
          <p:cNvPr id="58" name="図 5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3DE9DCC4-82B8-44FA-97C3-1D501219896E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076585F-1E01-4FAD-9A5A-4228C10E5712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DB80905-2A9E-AD34-BE0A-BAE361C869E5}"/>
              </a:ext>
            </a:extLst>
          </p:cNvPr>
          <p:cNvSpPr txBox="1"/>
          <p:nvPr/>
        </p:nvSpPr>
        <p:spPr>
          <a:xfrm>
            <a:off x="666750" y="449722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00">
                <a:hlinkClick r:id="rId4"/>
              </a:rPr>
              <a:t>https://www.kaggle.com/competitions/pokemon-tcg-ai-battle</a:t>
            </a:r>
            <a:endParaRPr lang="en-US" altLang="ja-JP" sz="1000" dirty="0"/>
          </a:p>
        </p:txBody>
      </p:sp>
    </p:spTree>
    <p:extLst>
      <p:ext uri="{BB962C8B-B14F-4D97-AF65-F5344CB8AC3E}">
        <p14:creationId xmlns:p14="http://schemas.microsoft.com/office/powerpoint/2010/main" val="1628796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A71DA8BD-5E2A-4EBF-8CEE-A4391234699E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Claude Codeに任せる仕組み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64D7AD-CCE6-4D0A-B95C-B827D833CEB9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1000FEB-3BBA-4543-8798-38953F98E2C0}"/>
              </a:ext>
            </a:extLst>
          </p:cNvPr>
          <p:cNvSpPr>
            <a:spLocks noGrp="1"/>
          </p:cNvSpPr>
          <p:nvPr/>
        </p:nvSpPr>
        <p:spPr>
          <a:xfrm>
            <a:off x="571500" y="714375"/>
            <a:ext cx="7810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7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アイデアから実装・検証</a:t>
            </a:r>
            <a:r>
              <a:rPr sz="1725" b="1" dirty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・</a:t>
            </a:r>
            <a:r>
              <a:rPr lang="ja-JP" altLang="en-US" sz="17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知識化</a:t>
            </a:r>
            <a:r>
              <a:rPr sz="1725" b="1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までを、同じ手順で繰り返す</a:t>
            </a:r>
            <a:endParaRPr sz="1725" b="1" dirty="0">
              <a:solidFill>
                <a:srgbClr val="262626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4" name="円/楕円 3">
            <a:extLst>
              <a:ext uri="{FF2B5EF4-FFF2-40B4-BE49-F238E27FC236}">
                <a16:creationId xmlns:a16="http://schemas.microsoft.com/office/drawing/2014/main" id="{E32A4E5D-5867-4962-947E-D680BCD256CC}"/>
              </a:ext>
            </a:extLst>
          </p:cNvPr>
          <p:cNvSpPr>
            <a:spLocks noGrp="1"/>
          </p:cNvSpPr>
          <p:nvPr/>
        </p:nvSpPr>
        <p:spPr>
          <a:xfrm>
            <a:off x="971550" y="1504950"/>
            <a:ext cx="514350" cy="51435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97A6ED6-E4FE-4592-8DC1-B96637C5D6CE}"/>
              </a:ext>
            </a:extLst>
          </p:cNvPr>
          <p:cNvSpPr>
            <a:spLocks noGrp="1"/>
          </p:cNvSpPr>
          <p:nvPr/>
        </p:nvSpPr>
        <p:spPr>
          <a:xfrm>
            <a:off x="971550" y="1504950"/>
            <a:ext cx="5143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69652CB-86B0-4378-969E-46565353BDB6}"/>
              </a:ext>
            </a:extLst>
          </p:cNvPr>
          <p:cNvSpPr>
            <a:spLocks noGrp="1"/>
          </p:cNvSpPr>
          <p:nvPr/>
        </p:nvSpPr>
        <p:spPr>
          <a:xfrm>
            <a:off x="552450" y="2133600"/>
            <a:ext cx="13525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情報収集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EE2543D-BDAE-498E-9875-6F3482AC83AD}"/>
              </a:ext>
            </a:extLst>
          </p:cNvPr>
          <p:cNvSpPr>
            <a:spLocks noGrp="1"/>
          </p:cNvSpPr>
          <p:nvPr/>
        </p:nvSpPr>
        <p:spPr>
          <a:xfrm>
            <a:off x="485775" y="2486024"/>
            <a:ext cx="1485900" cy="71437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公開</a:t>
            </a:r>
            <a:r>
              <a:rPr sz="1050" b="0" dirty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Notebook</a:t>
            </a:r>
            <a:endParaRPr lang="en-US" sz="105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公開</a:t>
            </a:r>
            <a:r>
              <a:rPr lang="en-US" altLang="ja-JP" sz="1050" b="0" dirty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Discussion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　参加者の</a:t>
            </a:r>
            <a:r>
              <a:rPr sz="1050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対戦</a:t>
            </a: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ログ</a:t>
            </a:r>
            <a:endParaRPr lang="en-US" altLang="ja-JP"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en-US" sz="1050" dirty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Web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87DDB703-358C-44EE-8F7A-DB5BEBC58484}"/>
              </a:ext>
            </a:extLst>
          </p:cNvPr>
          <p:cNvSpPr>
            <a:spLocks noGrp="1"/>
          </p:cNvSpPr>
          <p:nvPr/>
        </p:nvSpPr>
        <p:spPr>
          <a:xfrm>
            <a:off x="2695575" y="1504950"/>
            <a:ext cx="514350" cy="51435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8B162AB-D4F3-43ED-9640-11A9E3AC756B}"/>
              </a:ext>
            </a:extLst>
          </p:cNvPr>
          <p:cNvSpPr>
            <a:spLocks noGrp="1"/>
          </p:cNvSpPr>
          <p:nvPr/>
        </p:nvSpPr>
        <p:spPr>
          <a:xfrm>
            <a:off x="2695575" y="1504950"/>
            <a:ext cx="5143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0F2357-9538-49DC-A5EB-D53EADF72268}"/>
              </a:ext>
            </a:extLst>
          </p:cNvPr>
          <p:cNvSpPr>
            <a:spLocks noGrp="1"/>
          </p:cNvSpPr>
          <p:nvPr/>
        </p:nvSpPr>
        <p:spPr>
          <a:xfrm>
            <a:off x="2276475" y="2133600"/>
            <a:ext cx="13525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アイデア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A3C1361-CF69-4E9E-9DC0-6706ADFF2D1F}"/>
              </a:ext>
            </a:extLst>
          </p:cNvPr>
          <p:cNvSpPr>
            <a:spLocks noGrp="1"/>
          </p:cNvSpPr>
          <p:nvPr/>
        </p:nvSpPr>
        <p:spPr>
          <a:xfrm>
            <a:off x="2209800" y="2486025"/>
            <a:ext cx="14859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アイデア出し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2B52D813-C987-4587-BE32-F738A42A5514}"/>
              </a:ext>
            </a:extLst>
          </p:cNvPr>
          <p:cNvSpPr>
            <a:spLocks noGrp="1"/>
          </p:cNvSpPr>
          <p:nvPr/>
        </p:nvSpPr>
        <p:spPr>
          <a:xfrm>
            <a:off x="4419600" y="1504950"/>
            <a:ext cx="514350" cy="51435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B9D8EC-4B91-42D7-BFC5-C263CD90D278}"/>
              </a:ext>
            </a:extLst>
          </p:cNvPr>
          <p:cNvSpPr>
            <a:spLocks noGrp="1"/>
          </p:cNvSpPr>
          <p:nvPr/>
        </p:nvSpPr>
        <p:spPr>
          <a:xfrm>
            <a:off x="4419600" y="1504950"/>
            <a:ext cx="5143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D535072-0C99-4CE6-83CA-5B973C45E3EE}"/>
              </a:ext>
            </a:extLst>
          </p:cNvPr>
          <p:cNvSpPr>
            <a:spLocks noGrp="1"/>
          </p:cNvSpPr>
          <p:nvPr/>
        </p:nvSpPr>
        <p:spPr>
          <a:xfrm>
            <a:off x="4000500" y="2133600"/>
            <a:ext cx="13525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実装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7373545-41EA-49ED-B0E3-651A5C754BD7}"/>
              </a:ext>
            </a:extLst>
          </p:cNvPr>
          <p:cNvSpPr>
            <a:spLocks noGrp="1"/>
          </p:cNvSpPr>
          <p:nvPr/>
        </p:nvSpPr>
        <p:spPr>
          <a:xfrm>
            <a:off x="3933825" y="2486025"/>
            <a:ext cx="14859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アイデアを基に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エージェントを実装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6" name="円/楕円 15">
            <a:extLst>
              <a:ext uri="{FF2B5EF4-FFF2-40B4-BE49-F238E27FC236}">
                <a16:creationId xmlns:a16="http://schemas.microsoft.com/office/drawing/2014/main" id="{863DEC9E-153C-40B1-864D-66A8DF4FD78C}"/>
              </a:ext>
            </a:extLst>
          </p:cNvPr>
          <p:cNvSpPr>
            <a:spLocks noGrp="1"/>
          </p:cNvSpPr>
          <p:nvPr/>
        </p:nvSpPr>
        <p:spPr>
          <a:xfrm>
            <a:off x="6143625" y="1504950"/>
            <a:ext cx="514350" cy="51435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4434F1E-F556-4D8C-8AA8-9E31B188D895}"/>
              </a:ext>
            </a:extLst>
          </p:cNvPr>
          <p:cNvSpPr>
            <a:spLocks noGrp="1"/>
          </p:cNvSpPr>
          <p:nvPr/>
        </p:nvSpPr>
        <p:spPr>
          <a:xfrm>
            <a:off x="6143625" y="1504950"/>
            <a:ext cx="5143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0EE726A-30C6-4E65-844C-162FA7360439}"/>
              </a:ext>
            </a:extLst>
          </p:cNvPr>
          <p:cNvSpPr>
            <a:spLocks noGrp="1"/>
          </p:cNvSpPr>
          <p:nvPr/>
        </p:nvSpPr>
        <p:spPr>
          <a:xfrm>
            <a:off x="5724525" y="2133600"/>
            <a:ext cx="13525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検証</a:t>
            </a:r>
            <a:endParaRPr sz="1275" b="1" dirty="0">
              <a:solidFill>
                <a:srgbClr val="262626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084D6B6-392D-40A4-B5AC-117FC7E0E644}"/>
              </a:ext>
            </a:extLst>
          </p:cNvPr>
          <p:cNvSpPr>
            <a:spLocks noGrp="1"/>
          </p:cNvSpPr>
          <p:nvPr/>
        </p:nvSpPr>
        <p:spPr>
          <a:xfrm>
            <a:off x="5657850" y="2486025"/>
            <a:ext cx="14859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ローカル</a:t>
            </a:r>
            <a:r>
              <a:rPr sz="1050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対戦で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検証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0" name="円/楕円 19">
            <a:extLst>
              <a:ext uri="{FF2B5EF4-FFF2-40B4-BE49-F238E27FC236}">
                <a16:creationId xmlns:a16="http://schemas.microsoft.com/office/drawing/2014/main" id="{14C81F4A-8867-4E65-8042-3C521364D0D9}"/>
              </a:ext>
            </a:extLst>
          </p:cNvPr>
          <p:cNvSpPr>
            <a:spLocks noGrp="1"/>
          </p:cNvSpPr>
          <p:nvPr/>
        </p:nvSpPr>
        <p:spPr>
          <a:xfrm>
            <a:off x="7867650" y="1504950"/>
            <a:ext cx="514350" cy="514350"/>
          </a:xfrm>
          <a:prstGeom prst="ellipse">
            <a:avLst/>
          </a:prstGeom>
          <a:solidFill>
            <a:srgbClr val="18A73B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AB72F89-AFFB-48C8-AFAB-62096CF56A68}"/>
              </a:ext>
            </a:extLst>
          </p:cNvPr>
          <p:cNvSpPr>
            <a:spLocks noGrp="1"/>
          </p:cNvSpPr>
          <p:nvPr/>
        </p:nvSpPr>
        <p:spPr>
          <a:xfrm>
            <a:off x="7867650" y="1504950"/>
            <a:ext cx="5143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4E2B1B1-D314-473C-AEA8-49FD77B0B3EA}"/>
              </a:ext>
            </a:extLst>
          </p:cNvPr>
          <p:cNvSpPr>
            <a:spLocks noGrp="1"/>
          </p:cNvSpPr>
          <p:nvPr/>
        </p:nvSpPr>
        <p:spPr>
          <a:xfrm>
            <a:off x="7448550" y="2133600"/>
            <a:ext cx="13525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知識化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04D19887-C0D0-4E18-9244-D6A99C208EB1}"/>
              </a:ext>
            </a:extLst>
          </p:cNvPr>
          <p:cNvSpPr>
            <a:spLocks noGrp="1"/>
          </p:cNvSpPr>
          <p:nvPr/>
        </p:nvSpPr>
        <p:spPr>
          <a:xfrm>
            <a:off x="7381875" y="2486025"/>
            <a:ext cx="148590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結果と</a:t>
            </a: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知見</a:t>
            </a:r>
            <a:r>
              <a:rPr sz="1050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を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次へ残す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cxnSp>
        <p:nvCxnSpPr>
          <p:cNvPr id="66" name="直線矢印コネクタ 65"/>
          <p:cNvCxnSpPr>
            <a:stCxn id="4" idx="6"/>
            <a:endCxn id="8" idx="2"/>
          </p:cNvCxnSpPr>
          <p:nvPr/>
        </p:nvCxnSpPr>
        <p:spPr>
          <a:xfrm>
            <a:off x="1485900" y="1762125"/>
            <a:ext cx="1209675" cy="0"/>
          </a:xfrm>
          <a:prstGeom prst="straightConnector1">
            <a:avLst/>
          </a:prstGeom>
          <a:ln w="19050">
            <a:solidFill>
              <a:srgbClr val="8FDDF5"/>
            </a:solidFill>
          </a:ln>
        </p:spPr>
      </p:cxn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155C70D-01BF-4C22-B9A1-89EDC6D25EDD}"/>
              </a:ext>
            </a:extLst>
          </p:cNvPr>
          <p:cNvSpPr>
            <a:spLocks noGrp="1"/>
          </p:cNvSpPr>
          <p:nvPr/>
        </p:nvSpPr>
        <p:spPr>
          <a:xfrm>
            <a:off x="1943100" y="15525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cxnSp>
        <p:nvCxnSpPr>
          <p:cNvPr id="68" name="直線矢印コネクタ 67"/>
          <p:cNvCxnSpPr>
            <a:stCxn id="8" idx="6"/>
            <a:endCxn id="12" idx="2"/>
          </p:cNvCxnSpPr>
          <p:nvPr/>
        </p:nvCxnSpPr>
        <p:spPr>
          <a:xfrm>
            <a:off x="3209925" y="1762125"/>
            <a:ext cx="1209675" cy="0"/>
          </a:xfrm>
          <a:prstGeom prst="straightConnector1">
            <a:avLst/>
          </a:prstGeom>
          <a:ln w="19050">
            <a:solidFill>
              <a:srgbClr val="8FDDF5"/>
            </a:solidFill>
          </a:ln>
        </p:spPr>
      </p:cxn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DDF82C0-8D8A-461C-81A7-AADAFA866B36}"/>
              </a:ext>
            </a:extLst>
          </p:cNvPr>
          <p:cNvSpPr>
            <a:spLocks noGrp="1"/>
          </p:cNvSpPr>
          <p:nvPr/>
        </p:nvSpPr>
        <p:spPr>
          <a:xfrm>
            <a:off x="3667125" y="15525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cxnSp>
        <p:nvCxnSpPr>
          <p:cNvPr id="70" name="直線矢印コネクタ 69"/>
          <p:cNvCxnSpPr>
            <a:stCxn id="12" idx="6"/>
            <a:endCxn id="16" idx="2"/>
          </p:cNvCxnSpPr>
          <p:nvPr/>
        </p:nvCxnSpPr>
        <p:spPr>
          <a:xfrm>
            <a:off x="4933950" y="1762125"/>
            <a:ext cx="1209675" cy="0"/>
          </a:xfrm>
          <a:prstGeom prst="straightConnector1">
            <a:avLst/>
          </a:prstGeom>
          <a:ln w="19050">
            <a:solidFill>
              <a:srgbClr val="8FDDF5"/>
            </a:solidFill>
          </a:ln>
        </p:spPr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F8C220E-A35F-441A-9778-FBB23620F20F}"/>
              </a:ext>
            </a:extLst>
          </p:cNvPr>
          <p:cNvSpPr>
            <a:spLocks noGrp="1"/>
          </p:cNvSpPr>
          <p:nvPr/>
        </p:nvSpPr>
        <p:spPr>
          <a:xfrm>
            <a:off x="5391150" y="15525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cxnSp>
        <p:nvCxnSpPr>
          <p:cNvPr id="72" name="直線矢印コネクタ 71"/>
          <p:cNvCxnSpPr>
            <a:stCxn id="16" idx="6"/>
            <a:endCxn id="20" idx="2"/>
          </p:cNvCxnSpPr>
          <p:nvPr/>
        </p:nvCxnSpPr>
        <p:spPr>
          <a:xfrm>
            <a:off x="6657975" y="1762125"/>
            <a:ext cx="1209675" cy="0"/>
          </a:xfrm>
          <a:prstGeom prst="straightConnector1">
            <a:avLst/>
          </a:prstGeom>
          <a:ln w="19050">
            <a:solidFill>
              <a:srgbClr val="8FDDF5"/>
            </a:solidFill>
          </a:ln>
        </p:spPr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FED13A20-C066-4355-974E-2FC9F0AB5335}"/>
              </a:ext>
            </a:extLst>
          </p:cNvPr>
          <p:cNvSpPr>
            <a:spLocks noGrp="1"/>
          </p:cNvSpPr>
          <p:nvPr/>
        </p:nvSpPr>
        <p:spPr>
          <a:xfrm>
            <a:off x="7115175" y="15525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8B8C959A-5F5F-4BDB-8684-27FF277BB1BE}"/>
              </a:ext>
            </a:extLst>
          </p:cNvPr>
          <p:cNvSpPr>
            <a:spLocks noGrp="1"/>
          </p:cNvSpPr>
          <p:nvPr/>
        </p:nvSpPr>
        <p:spPr>
          <a:xfrm>
            <a:off x="590550" y="3448050"/>
            <a:ext cx="796290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CC78D3D-453B-4BBA-8163-B20196B88145}"/>
              </a:ext>
            </a:extLst>
          </p:cNvPr>
          <p:cNvSpPr>
            <a:spLocks noGrp="1"/>
          </p:cNvSpPr>
          <p:nvPr/>
        </p:nvSpPr>
        <p:spPr>
          <a:xfrm>
            <a:off x="704850" y="366712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CLAUDE.md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01C44AB-E620-4AB3-8BB7-2D683B803C4A}"/>
              </a:ext>
            </a:extLst>
          </p:cNvPr>
          <p:cNvSpPr>
            <a:spLocks noGrp="1"/>
          </p:cNvSpPr>
          <p:nvPr/>
        </p:nvSpPr>
        <p:spPr>
          <a:xfrm>
            <a:off x="704850" y="3943350"/>
            <a:ext cx="19526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開発規約と判断基準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49745B6-3FCF-41C6-8B49-380B7DEF088D}"/>
              </a:ext>
            </a:extLst>
          </p:cNvPr>
          <p:cNvSpPr>
            <a:spLocks noGrp="1"/>
          </p:cNvSpPr>
          <p:nvPr/>
        </p:nvSpPr>
        <p:spPr>
          <a:xfrm>
            <a:off x="3352800" y="366712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Skills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324A54A8-EBE7-450B-8C5C-2C3203BC5AAA}"/>
              </a:ext>
            </a:extLst>
          </p:cNvPr>
          <p:cNvSpPr>
            <a:spLocks noGrp="1"/>
          </p:cNvSpPr>
          <p:nvPr/>
        </p:nvSpPr>
        <p:spPr>
          <a:xfrm>
            <a:off x="3352800" y="3943350"/>
            <a:ext cx="19526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実行手順を固定</a:t>
            </a: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5874CC14-DB56-41D2-8014-BBCBABFD1539}"/>
              </a:ext>
            </a:extLst>
          </p:cNvPr>
          <p:cNvSpPr>
            <a:spLocks noGrp="1"/>
          </p:cNvSpPr>
          <p:nvPr/>
        </p:nvSpPr>
        <p:spPr>
          <a:xfrm>
            <a:off x="5924550" y="366712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knowledge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024387A-AE81-4D53-A490-370B3C334B07}"/>
              </a:ext>
            </a:extLst>
          </p:cNvPr>
          <p:cNvSpPr>
            <a:spLocks noGrp="1"/>
          </p:cNvSpPr>
          <p:nvPr/>
        </p:nvSpPr>
        <p:spPr>
          <a:xfrm>
            <a:off x="5924550" y="3943350"/>
            <a:ext cx="19526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知見を蓄積</a:t>
            </a:r>
            <a:endParaRPr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pic>
        <p:nvPicPr>
          <p:cNvPr id="82" name="図 8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C94C2F3A-B8E8-46B3-A5D7-A0F2D67E48D8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A956F5E-E1E9-4F06-9E6E-76DC57F1938F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6150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F8C8E51-27EF-4CA4-AF14-A6F2F35A5367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どのようなSkillsを作ったか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D09DC74-D001-4BD8-9040-CC65F4507AF5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97DBD75-0D4D-4227-A1DC-1438A95FB07C}"/>
              </a:ext>
            </a:extLst>
          </p:cNvPr>
          <p:cNvSpPr>
            <a:spLocks noGrp="1"/>
          </p:cNvSpPr>
          <p:nvPr/>
        </p:nvSpPr>
        <p:spPr>
          <a:xfrm>
            <a:off x="571500" y="695325"/>
            <a:ext cx="8001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情報収集と</a:t>
            </a:r>
            <a:r>
              <a:rPr lang="ja-JP" altLang="en-US"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実験で主に</a:t>
            </a:r>
            <a:r>
              <a:rPr lang="en-US" altLang="ja-JP" sz="1875" b="1" dirty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7</a:t>
            </a:r>
            <a:r>
              <a:rPr lang="ja-JP" altLang="en-US"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つの</a:t>
            </a:r>
            <a:r>
              <a:rPr lang="en" altLang="ja-JP" sz="1875" b="1" dirty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Skills</a:t>
            </a:r>
            <a:r>
              <a:rPr lang="ja-JP" altLang="en-US"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を使用</a:t>
            </a:r>
            <a:endParaRPr sz="1875" b="1" dirty="0">
              <a:solidFill>
                <a:srgbClr val="262626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32F645A-4BA6-4B6B-91A2-3424D7E177C4}"/>
              </a:ext>
            </a:extLst>
          </p:cNvPr>
          <p:cNvSpPr>
            <a:spLocks noGrp="1"/>
          </p:cNvSpPr>
          <p:nvPr/>
        </p:nvSpPr>
        <p:spPr>
          <a:xfrm>
            <a:off x="514350" y="1323975"/>
            <a:ext cx="120015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FF9953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9953"/>
                </a:solidFill>
                <a:latin typeface="Hiragino Sans"/>
                <a:ea typeface="Hiragino Sans"/>
                <a:cs typeface="Hiragino Sans"/>
              </a:rPr>
              <a:t>情報を集める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9A8ABB-FD4C-4017-8FA8-59003326D8DD}"/>
              </a:ext>
            </a:extLst>
          </p:cNvPr>
          <p:cNvSpPr>
            <a:spLocks noGrp="1"/>
          </p:cNvSpPr>
          <p:nvPr/>
        </p:nvSpPr>
        <p:spPr>
          <a:xfrm>
            <a:off x="514350" y="1647825"/>
            <a:ext cx="8115300" cy="28575"/>
          </a:xfrm>
          <a:prstGeom prst="rect">
            <a:avLst/>
          </a:prstGeom>
          <a:solidFill>
            <a:srgbClr val="FF995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E3D19AE-A80B-4804-92FE-EC0F18A673CF}"/>
              </a:ext>
            </a:extLst>
          </p:cNvPr>
          <p:cNvSpPr>
            <a:spLocks noGrp="1"/>
          </p:cNvSpPr>
          <p:nvPr/>
        </p:nvSpPr>
        <p:spPr>
          <a:xfrm>
            <a:off x="666750" y="177165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/notebooks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51F95FE-2516-47DC-9561-99F7AB7B3A1C}"/>
              </a:ext>
            </a:extLst>
          </p:cNvPr>
          <p:cNvSpPr>
            <a:spLocks noGrp="1"/>
          </p:cNvSpPr>
          <p:nvPr/>
        </p:nvSpPr>
        <p:spPr>
          <a:xfrm>
            <a:off x="666750" y="2066925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公開Notebook</a:t>
            </a: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を取得・要約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FB0F9F4-C30A-49E8-AE97-B089A6B63F08}"/>
              </a:ext>
            </a:extLst>
          </p:cNvPr>
          <p:cNvSpPr>
            <a:spLocks noGrp="1"/>
          </p:cNvSpPr>
          <p:nvPr/>
        </p:nvSpPr>
        <p:spPr>
          <a:xfrm>
            <a:off x="6248400" y="177165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/episodes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C0F9B2F-98E7-455E-8C84-8D4D3ACFD5FA}"/>
              </a:ext>
            </a:extLst>
          </p:cNvPr>
          <p:cNvSpPr>
            <a:spLocks noGrp="1"/>
          </p:cNvSpPr>
          <p:nvPr/>
        </p:nvSpPr>
        <p:spPr>
          <a:xfrm>
            <a:off x="6248400" y="2066925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参加者</a:t>
            </a:r>
            <a:r>
              <a:rPr sz="1050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の対戦ログ</a:t>
            </a: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を取得・分析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13D7AFB-6B73-41CE-943C-1395D3B19652}"/>
              </a:ext>
            </a:extLst>
          </p:cNvPr>
          <p:cNvSpPr>
            <a:spLocks noGrp="1"/>
          </p:cNvSpPr>
          <p:nvPr/>
        </p:nvSpPr>
        <p:spPr>
          <a:xfrm>
            <a:off x="3318066" y="177165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/discussions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5EC56BE-E95B-4133-9FDB-434BC04E0930}"/>
              </a:ext>
            </a:extLst>
          </p:cNvPr>
          <p:cNvSpPr>
            <a:spLocks noGrp="1"/>
          </p:cNvSpPr>
          <p:nvPr/>
        </p:nvSpPr>
        <p:spPr>
          <a:xfrm>
            <a:off x="3318066" y="2066925"/>
            <a:ext cx="238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公開</a:t>
            </a:r>
            <a:r>
              <a:rPr lang="en-US" altLang="ja-JP" sz="1050" b="0" dirty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Discussion</a:t>
            </a:r>
            <a:r>
              <a:rPr lang="ja-JP" altLang="en-US"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を取得・要約</a:t>
            </a:r>
            <a:endParaRPr sz="1050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1229713-3E23-49D3-B5C4-E5E985199DCE}"/>
              </a:ext>
            </a:extLst>
          </p:cNvPr>
          <p:cNvSpPr>
            <a:spLocks noGrp="1"/>
          </p:cNvSpPr>
          <p:nvPr/>
        </p:nvSpPr>
        <p:spPr>
          <a:xfrm>
            <a:off x="514350" y="2543175"/>
            <a:ext cx="120015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200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実験</a:t>
            </a:r>
            <a:r>
              <a:rPr sz="1200" b="1" dirty="0" err="1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を進める</a:t>
            </a:r>
            <a:endParaRPr sz="1200" b="1" dirty="0">
              <a:solidFill>
                <a:srgbClr val="20BEFF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7E77B94-11A7-4297-B435-DD2ADC576807}"/>
              </a:ext>
            </a:extLst>
          </p:cNvPr>
          <p:cNvSpPr>
            <a:spLocks noGrp="1"/>
          </p:cNvSpPr>
          <p:nvPr/>
        </p:nvSpPr>
        <p:spPr>
          <a:xfrm>
            <a:off x="514350" y="2867025"/>
            <a:ext cx="8115300" cy="28575"/>
          </a:xfrm>
          <a:prstGeom prst="rect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73E06E7-2D30-48BD-AD13-5B974D7F491B}"/>
              </a:ext>
            </a:extLst>
          </p:cNvPr>
          <p:cNvSpPr>
            <a:spLocks noGrp="1"/>
          </p:cNvSpPr>
          <p:nvPr/>
        </p:nvSpPr>
        <p:spPr>
          <a:xfrm>
            <a:off x="495300" y="2933700"/>
            <a:ext cx="15621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/ideate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F97132-5A73-4970-AF14-CA79DAEE9184}"/>
              </a:ext>
            </a:extLst>
          </p:cNvPr>
          <p:cNvSpPr>
            <a:spLocks noGrp="1"/>
          </p:cNvSpPr>
          <p:nvPr/>
        </p:nvSpPr>
        <p:spPr>
          <a:xfrm>
            <a:off x="495300" y="3352800"/>
            <a:ext cx="156210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975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上記情報等を参考に</a:t>
            </a:r>
            <a:endParaRPr lang="en-US" altLang="ja-JP" sz="975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975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アイデア出し</a:t>
            </a:r>
            <a:endParaRPr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227B04A-B37E-4427-889E-00277BC51660}"/>
              </a:ext>
            </a:extLst>
          </p:cNvPr>
          <p:cNvSpPr>
            <a:spLocks noGrp="1"/>
          </p:cNvSpPr>
          <p:nvPr/>
        </p:nvSpPr>
        <p:spPr>
          <a:xfrm>
            <a:off x="2418793" y="2933700"/>
            <a:ext cx="15621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/experiment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50661E6-B3FF-423C-B1BF-2E2D732F5CE3}"/>
              </a:ext>
            </a:extLst>
          </p:cNvPr>
          <p:cNvSpPr>
            <a:spLocks noGrp="1"/>
          </p:cNvSpPr>
          <p:nvPr/>
        </p:nvSpPr>
        <p:spPr>
          <a:xfrm>
            <a:off x="2418793" y="3352800"/>
            <a:ext cx="15621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0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アイデアを基に</a:t>
            </a: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0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エージェントを実装・</a:t>
            </a:r>
            <a:endParaRPr lang="en-US" altLang="ja-JP" sz="100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00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ローカル対戦で検証</a:t>
            </a:r>
            <a:endParaRPr lang="ja-JP" altLang="en-US" sz="100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21D6453-D8F4-4218-8D3B-C63286BB05B6}"/>
              </a:ext>
            </a:extLst>
          </p:cNvPr>
          <p:cNvSpPr>
            <a:spLocks noGrp="1"/>
          </p:cNvSpPr>
          <p:nvPr/>
        </p:nvSpPr>
        <p:spPr>
          <a:xfrm>
            <a:off x="4813483" y="2933700"/>
            <a:ext cx="15621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/league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E75622A-ED91-4439-B338-F7EA42649C03}"/>
              </a:ext>
            </a:extLst>
          </p:cNvPr>
          <p:cNvSpPr>
            <a:spLocks noGrp="1"/>
          </p:cNvSpPr>
          <p:nvPr/>
        </p:nvSpPr>
        <p:spPr>
          <a:xfrm>
            <a:off x="4813483" y="3352800"/>
            <a:ext cx="1681446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en-US"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エージェントプールの中で</a:t>
            </a:r>
            <a:r>
              <a:rPr lang="ja-JP" altLang="en-US"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総当たりでローカル対戦</a:t>
            </a:r>
            <a:endParaRPr lang="ja-JP" altLang="en-US"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A9940CE-497A-437B-B613-7EF74BABB992}"/>
              </a:ext>
            </a:extLst>
          </p:cNvPr>
          <p:cNvSpPr>
            <a:spLocks noGrp="1"/>
          </p:cNvSpPr>
          <p:nvPr/>
        </p:nvSpPr>
        <p:spPr>
          <a:xfrm>
            <a:off x="7086600" y="2933700"/>
            <a:ext cx="15621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/package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C72BF144-BE12-433A-9CE4-D82583D28670}"/>
              </a:ext>
            </a:extLst>
          </p:cNvPr>
          <p:cNvSpPr>
            <a:spLocks noGrp="1"/>
          </p:cNvSpPr>
          <p:nvPr/>
        </p:nvSpPr>
        <p:spPr>
          <a:xfrm>
            <a:off x="7086600" y="3352800"/>
            <a:ext cx="156210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975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提出用に</a:t>
            </a:r>
            <a:r>
              <a:rPr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梱包</a:t>
            </a:r>
            <a:endParaRPr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4" name="角丸四角形 23">
            <a:extLst>
              <a:ext uri="{FF2B5EF4-FFF2-40B4-BE49-F238E27FC236}">
                <a16:creationId xmlns:a16="http://schemas.microsoft.com/office/drawing/2014/main" id="{BD47A0E6-D186-4E73-ADBD-77EF68282908}"/>
              </a:ext>
            </a:extLst>
          </p:cNvPr>
          <p:cNvSpPr>
            <a:spLocks noGrp="1"/>
          </p:cNvSpPr>
          <p:nvPr/>
        </p:nvSpPr>
        <p:spPr>
          <a:xfrm>
            <a:off x="1238250" y="3943350"/>
            <a:ext cx="6667500" cy="438150"/>
          </a:xfrm>
          <a:prstGeom prst="roundRect">
            <a:avLst>
              <a:gd name="adj" fmla="val 13043"/>
            </a:avLst>
          </a:prstGeom>
          <a:solidFill>
            <a:srgbClr val="EAF5F8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 dirty="0" err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Skillは、読む資料・実行</a:t>
            </a:r>
            <a:r>
              <a:rPr lang="ja-JP" altLang="en-US"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手</a:t>
            </a:r>
            <a:r>
              <a:rPr sz="1275" b="1" dirty="0" err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順・完了条件まで定義した手順書</a:t>
            </a:r>
            <a:endParaRPr sz="1275" b="1" dirty="0">
              <a:solidFill>
                <a:srgbClr val="0580B2"/>
              </a:solidFill>
              <a:latin typeface="Hiragino Sans"/>
              <a:ea typeface="Hiragino Sans"/>
              <a:cs typeface="Hiragino Sans"/>
            </a:endParaRPr>
          </a:p>
        </p:txBody>
      </p:sp>
      <p:pic>
        <p:nvPicPr>
          <p:cNvPr id="52" name="図 5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08286F61-2ADF-4DF7-A7BB-30E704D064FE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736FDDE-45A3-4CAA-90C6-0935C8E85AB5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4375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C704E52-9B03-444D-A5E2-C9BF57FFF08A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/experiment が行うこと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6F8EA7-B1EA-4017-8317-A184EAA29D91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54F67A8-3133-433F-8F66-A33C35C962B8}"/>
              </a:ext>
            </a:extLst>
          </p:cNvPr>
          <p:cNvSpPr>
            <a:spLocks noGrp="1"/>
          </p:cNvSpPr>
          <p:nvPr/>
        </p:nvSpPr>
        <p:spPr>
          <a:xfrm>
            <a:off x="571500" y="695325"/>
            <a:ext cx="8001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1つのアイデアを、比較可能な実験として完了させる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DC6ECC4-0D02-4C4A-A36D-A794866DAE95}"/>
              </a:ext>
            </a:extLst>
          </p:cNvPr>
          <p:cNvSpPr>
            <a:spLocks noGrp="1"/>
          </p:cNvSpPr>
          <p:nvPr/>
        </p:nvSpPr>
        <p:spPr>
          <a:xfrm>
            <a:off x="828675" y="1362075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作る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BF5BD53-B4D2-4F97-BF00-89ECF505A657}"/>
              </a:ext>
            </a:extLst>
          </p:cNvPr>
          <p:cNvSpPr>
            <a:spLocks noGrp="1"/>
          </p:cNvSpPr>
          <p:nvPr/>
        </p:nvSpPr>
        <p:spPr>
          <a:xfrm>
            <a:off x="5172075" y="1362075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確かめて残す</a:t>
            </a:r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353A3380-CF63-4BA1-8912-11A305B2E394}"/>
              </a:ext>
            </a:extLst>
          </p:cNvPr>
          <p:cNvSpPr>
            <a:spLocks noGrp="1"/>
          </p:cNvSpPr>
          <p:nvPr/>
        </p:nvSpPr>
        <p:spPr>
          <a:xfrm>
            <a:off x="752475" y="1876425"/>
            <a:ext cx="342900" cy="34290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61D9D06-35C2-49F0-B38E-24A5CF3F2DEC}"/>
              </a:ext>
            </a:extLst>
          </p:cNvPr>
          <p:cNvSpPr>
            <a:spLocks noGrp="1"/>
          </p:cNvSpPr>
          <p:nvPr/>
        </p:nvSpPr>
        <p:spPr>
          <a:xfrm>
            <a:off x="752475" y="1876425"/>
            <a:ext cx="3429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7AF9000-1116-4979-8674-4E487DC5580D}"/>
              </a:ext>
            </a:extLst>
          </p:cNvPr>
          <p:cNvSpPr>
            <a:spLocks noGrp="1"/>
          </p:cNvSpPr>
          <p:nvPr/>
        </p:nvSpPr>
        <p:spPr>
          <a:xfrm>
            <a:off x="1238250" y="1847850"/>
            <a:ext cx="285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INSIGHTSとBACKLOGを読む</a:t>
            </a:r>
          </a:p>
        </p:txBody>
      </p:sp>
      <p:sp>
        <p:nvSpPr>
          <p:cNvPr id="9" name="円/楕円 8">
            <a:extLst>
              <a:ext uri="{FF2B5EF4-FFF2-40B4-BE49-F238E27FC236}">
                <a16:creationId xmlns:a16="http://schemas.microsoft.com/office/drawing/2014/main" id="{04CCB6F7-CFFE-46FA-A209-6B3508AA042A}"/>
              </a:ext>
            </a:extLst>
          </p:cNvPr>
          <p:cNvSpPr>
            <a:spLocks noGrp="1"/>
          </p:cNvSpPr>
          <p:nvPr/>
        </p:nvSpPr>
        <p:spPr>
          <a:xfrm>
            <a:off x="752475" y="2514600"/>
            <a:ext cx="342900" cy="34290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E579B7F-05DD-4B12-83C8-7B5CADC1682D}"/>
              </a:ext>
            </a:extLst>
          </p:cNvPr>
          <p:cNvSpPr>
            <a:spLocks noGrp="1"/>
          </p:cNvSpPr>
          <p:nvPr/>
        </p:nvSpPr>
        <p:spPr>
          <a:xfrm>
            <a:off x="752475" y="2514600"/>
            <a:ext cx="3429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95D77FD-2168-471A-8D6D-8B2E5B1117D4}"/>
              </a:ext>
            </a:extLst>
          </p:cNvPr>
          <p:cNvSpPr>
            <a:spLocks noGrp="1"/>
          </p:cNvSpPr>
          <p:nvPr/>
        </p:nvSpPr>
        <p:spPr>
          <a:xfrm>
            <a:off x="1238250" y="2486025"/>
            <a:ext cx="285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対象アイデアを in-progress にする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48A3FDB7-4560-461D-A1B8-C788D709D05C}"/>
              </a:ext>
            </a:extLst>
          </p:cNvPr>
          <p:cNvSpPr>
            <a:spLocks noGrp="1"/>
          </p:cNvSpPr>
          <p:nvPr/>
        </p:nvSpPr>
        <p:spPr>
          <a:xfrm>
            <a:off x="752475" y="3152775"/>
            <a:ext cx="342900" cy="34290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462DE9F-76E2-4DE9-B508-083432D280B0}"/>
              </a:ext>
            </a:extLst>
          </p:cNvPr>
          <p:cNvSpPr>
            <a:spLocks noGrp="1"/>
          </p:cNvSpPr>
          <p:nvPr/>
        </p:nvSpPr>
        <p:spPr>
          <a:xfrm>
            <a:off x="752475" y="3152775"/>
            <a:ext cx="3429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CDC30EB-06A9-4723-99CC-222643E93862}"/>
              </a:ext>
            </a:extLst>
          </p:cNvPr>
          <p:cNvSpPr>
            <a:spLocks noGrp="1"/>
          </p:cNvSpPr>
          <p:nvPr/>
        </p:nvSpPr>
        <p:spPr>
          <a:xfrm>
            <a:off x="1238250" y="3124200"/>
            <a:ext cx="285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新しい番号でエージェントを実装する</a:t>
            </a:r>
          </a:p>
        </p:txBody>
      </p:sp>
      <p:sp>
        <p:nvSpPr>
          <p:cNvPr id="15" name="円/楕円 14">
            <a:extLst>
              <a:ext uri="{FF2B5EF4-FFF2-40B4-BE49-F238E27FC236}">
                <a16:creationId xmlns:a16="http://schemas.microsoft.com/office/drawing/2014/main" id="{36C99433-5E35-4428-BA69-3A0374C8EB9A}"/>
              </a:ext>
            </a:extLst>
          </p:cNvPr>
          <p:cNvSpPr>
            <a:spLocks noGrp="1"/>
          </p:cNvSpPr>
          <p:nvPr/>
        </p:nvSpPr>
        <p:spPr>
          <a:xfrm>
            <a:off x="5095875" y="1876425"/>
            <a:ext cx="342900" cy="342900"/>
          </a:xfrm>
          <a:prstGeom prst="ellipse">
            <a:avLst/>
          </a:prstGeom>
          <a:solidFill>
            <a:srgbClr val="18A73B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475870F-2892-4411-9C87-091B9A7DBA0A}"/>
              </a:ext>
            </a:extLst>
          </p:cNvPr>
          <p:cNvSpPr>
            <a:spLocks noGrp="1"/>
          </p:cNvSpPr>
          <p:nvPr/>
        </p:nvSpPr>
        <p:spPr>
          <a:xfrm>
            <a:off x="5095875" y="1876425"/>
            <a:ext cx="3429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1EA52ED-5DA9-4BEB-B746-054210E1C90B}"/>
              </a:ext>
            </a:extLst>
          </p:cNvPr>
          <p:cNvSpPr>
            <a:spLocks noGrp="1"/>
          </p:cNvSpPr>
          <p:nvPr/>
        </p:nvSpPr>
        <p:spPr>
          <a:xfrm>
            <a:off x="5581650" y="1847850"/>
            <a:ext cx="285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random相手に20戦し、エラー0を確認</a:t>
            </a:r>
          </a:p>
        </p:txBody>
      </p:sp>
      <p:sp>
        <p:nvSpPr>
          <p:cNvPr id="18" name="円/楕円 17">
            <a:extLst>
              <a:ext uri="{FF2B5EF4-FFF2-40B4-BE49-F238E27FC236}">
                <a16:creationId xmlns:a16="http://schemas.microsoft.com/office/drawing/2014/main" id="{646AFB0E-689B-4C0A-B6B0-2B50D58F4588}"/>
              </a:ext>
            </a:extLst>
          </p:cNvPr>
          <p:cNvSpPr>
            <a:spLocks noGrp="1"/>
          </p:cNvSpPr>
          <p:nvPr/>
        </p:nvSpPr>
        <p:spPr>
          <a:xfrm>
            <a:off x="5095875" y="2514600"/>
            <a:ext cx="342900" cy="342900"/>
          </a:xfrm>
          <a:prstGeom prst="ellipse">
            <a:avLst/>
          </a:prstGeom>
          <a:solidFill>
            <a:srgbClr val="18A73B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6664EAF3-F170-45E6-AC9D-9F1F0D422E9C}"/>
              </a:ext>
            </a:extLst>
          </p:cNvPr>
          <p:cNvSpPr>
            <a:spLocks noGrp="1"/>
          </p:cNvSpPr>
          <p:nvPr/>
        </p:nvSpPr>
        <p:spPr>
          <a:xfrm>
            <a:off x="5095875" y="2514600"/>
            <a:ext cx="3429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544C3436-EA22-4D44-9783-548B5B7E52FB}"/>
              </a:ext>
            </a:extLst>
          </p:cNvPr>
          <p:cNvSpPr>
            <a:spLocks noGrp="1"/>
          </p:cNvSpPr>
          <p:nvPr/>
        </p:nvSpPr>
        <p:spPr>
          <a:xfrm>
            <a:off x="5581649" y="2486025"/>
            <a:ext cx="2981325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125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エージェント</a:t>
            </a:r>
            <a:r>
              <a:rPr sz="1125" b="0" dirty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プールの各相手と200戦以上</a:t>
            </a:r>
          </a:p>
        </p:txBody>
      </p:sp>
      <p:sp>
        <p:nvSpPr>
          <p:cNvPr id="21" name="円/楕円 20">
            <a:extLst>
              <a:ext uri="{FF2B5EF4-FFF2-40B4-BE49-F238E27FC236}">
                <a16:creationId xmlns:a16="http://schemas.microsoft.com/office/drawing/2014/main" id="{1A8134C9-9539-45DB-8B77-8A409E9E6E87}"/>
              </a:ext>
            </a:extLst>
          </p:cNvPr>
          <p:cNvSpPr>
            <a:spLocks noGrp="1"/>
          </p:cNvSpPr>
          <p:nvPr/>
        </p:nvSpPr>
        <p:spPr>
          <a:xfrm>
            <a:off x="5095875" y="3152775"/>
            <a:ext cx="342900" cy="342900"/>
          </a:xfrm>
          <a:prstGeom prst="ellipse">
            <a:avLst/>
          </a:prstGeom>
          <a:solidFill>
            <a:srgbClr val="18A73B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4420B43D-5E16-4D2A-80D5-982A4AF9A0C0}"/>
              </a:ext>
            </a:extLst>
          </p:cNvPr>
          <p:cNvSpPr>
            <a:spLocks noGrp="1"/>
          </p:cNvSpPr>
          <p:nvPr/>
        </p:nvSpPr>
        <p:spPr>
          <a:xfrm>
            <a:off x="5095875" y="3152775"/>
            <a:ext cx="3429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6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8FDFF1A-A744-4047-9629-353BA6039600}"/>
              </a:ext>
            </a:extLst>
          </p:cNvPr>
          <p:cNvSpPr>
            <a:spLocks noGrp="1"/>
          </p:cNvSpPr>
          <p:nvPr/>
        </p:nvSpPr>
        <p:spPr>
          <a:xfrm>
            <a:off x="5581650" y="3124200"/>
            <a:ext cx="2857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EXPレポート、知見、次の案を記録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C284095-4CEA-48D7-8273-9E6D1E79E85D}"/>
              </a:ext>
            </a:extLst>
          </p:cNvPr>
          <p:cNvSpPr>
            <a:spLocks noGrp="1"/>
          </p:cNvSpPr>
          <p:nvPr/>
        </p:nvSpPr>
        <p:spPr>
          <a:xfrm>
            <a:off x="4572000" y="1666875"/>
            <a:ext cx="9525" cy="220027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角丸四角形 24">
            <a:extLst>
              <a:ext uri="{FF2B5EF4-FFF2-40B4-BE49-F238E27FC236}">
                <a16:creationId xmlns:a16="http://schemas.microsoft.com/office/drawing/2014/main" id="{15A33D4C-8E5A-474E-AF07-DF37EB7B1C0D}"/>
              </a:ext>
            </a:extLst>
          </p:cNvPr>
          <p:cNvSpPr>
            <a:spLocks noGrp="1"/>
          </p:cNvSpPr>
          <p:nvPr/>
        </p:nvSpPr>
        <p:spPr>
          <a:xfrm>
            <a:off x="1123950" y="4114800"/>
            <a:ext cx="6896100" cy="381000"/>
          </a:xfrm>
          <a:prstGeom prst="roundRect">
            <a:avLst>
              <a:gd name="adj" fmla="val 15000"/>
            </a:avLst>
          </a:prstGeom>
          <a:solidFill>
            <a:srgbClr val="FFF9D9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合否はメタ比率で重み付けした勝率の95%信頼区間で判断</a:t>
            </a:r>
          </a:p>
        </p:txBody>
      </p:sp>
      <p:pic>
        <p:nvPicPr>
          <p:cNvPr id="54" name="図 5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74F8562-A2BF-45A3-A081-5B19C8FF00D6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15449A29-B2B1-49B2-846F-04A93085CD8A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82336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D5DBDFB-425D-401B-8EFE-6B8806572EDB}"/>
              </a:ext>
            </a:extLst>
          </p:cNvPr>
          <p:cNvSpPr>
            <a:spLocks noGrp="1"/>
          </p:cNvSpPr>
          <p:nvPr/>
        </p:nvSpPr>
        <p:spPr>
          <a:xfrm>
            <a:off x="1238250" y="1809750"/>
            <a:ext cx="66675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30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実験の変遷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7DEA343-B00B-4742-A481-2AC6EB494CA2}"/>
              </a:ext>
            </a:extLst>
          </p:cNvPr>
          <p:cNvSpPr>
            <a:spLocks noGrp="1"/>
          </p:cNvSpPr>
          <p:nvPr/>
        </p:nvSpPr>
        <p:spPr>
          <a:xfrm>
            <a:off x="1809750" y="2714625"/>
            <a:ext cx="5524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ルールベースから模倣学習、そして強化学習へ</a:t>
            </a:r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167B147-2040-4A68-8B0A-C0BAD4A25503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3A94B6-A72F-43AE-A3D5-DBB1423BBBCB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67991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0461AB-5923-4E49-8FCC-BCC068E68081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121回の実験を4つの時代で振り返る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2619DC5-2971-49F5-BFCE-096C099093AB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C894CFE-38F4-4D30-B7F1-E1108CA4B5CD}"/>
              </a:ext>
            </a:extLst>
          </p:cNvPr>
          <p:cNvSpPr>
            <a:spLocks noGrp="1"/>
          </p:cNvSpPr>
          <p:nvPr/>
        </p:nvSpPr>
        <p:spPr>
          <a:xfrm>
            <a:off x="819150" y="2305050"/>
            <a:ext cx="7505700" cy="28575"/>
          </a:xfrm>
          <a:prstGeom prst="rect">
            <a:avLst/>
          </a:prstGeom>
          <a:solidFill>
            <a:srgbClr val="BFE9F7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円/楕円 3">
            <a:extLst>
              <a:ext uri="{FF2B5EF4-FFF2-40B4-BE49-F238E27FC236}">
                <a16:creationId xmlns:a16="http://schemas.microsoft.com/office/drawing/2014/main" id="{53650E5F-E9D0-4F35-8644-CAA7D82B1739}"/>
              </a:ext>
            </a:extLst>
          </p:cNvPr>
          <p:cNvSpPr>
            <a:spLocks noGrp="1"/>
          </p:cNvSpPr>
          <p:nvPr/>
        </p:nvSpPr>
        <p:spPr>
          <a:xfrm>
            <a:off x="1247775" y="2038350"/>
            <a:ext cx="552450" cy="552450"/>
          </a:xfrm>
          <a:prstGeom prst="ellipse">
            <a:avLst/>
          </a:prstGeom>
          <a:solidFill>
            <a:srgbClr val="FF995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344F132-57FC-4A95-8B1E-A9FBA56432E5}"/>
              </a:ext>
            </a:extLst>
          </p:cNvPr>
          <p:cNvSpPr>
            <a:spLocks noGrp="1"/>
          </p:cNvSpPr>
          <p:nvPr/>
        </p:nvSpPr>
        <p:spPr>
          <a:xfrm>
            <a:off x="1247775" y="203835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01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D04BF7C-2F32-486D-BFFA-C7B182676448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1600200" cy="352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ルールベース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7106ACA-4C1C-42D5-96A2-273A196E892B}"/>
              </a:ext>
            </a:extLst>
          </p:cNvPr>
          <p:cNvSpPr>
            <a:spLocks noGrp="1"/>
          </p:cNvSpPr>
          <p:nvPr/>
        </p:nvSpPr>
        <p:spPr>
          <a:xfrm>
            <a:off x="590550" y="3257550"/>
            <a:ext cx="18669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人が考えた戦略を</a:t>
            </a: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条件文と探索で実装</a:t>
            </a:r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AAEB7067-F2D6-46CE-A207-E2B79F7B8A2B}"/>
              </a:ext>
            </a:extLst>
          </p:cNvPr>
          <p:cNvSpPr>
            <a:spLocks noGrp="1"/>
          </p:cNvSpPr>
          <p:nvPr/>
        </p:nvSpPr>
        <p:spPr>
          <a:xfrm>
            <a:off x="3381375" y="2038350"/>
            <a:ext cx="552450" cy="552450"/>
          </a:xfrm>
          <a:prstGeom prst="ellipse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32AECB-A62B-4895-B3AC-2C687CFEBD74}"/>
              </a:ext>
            </a:extLst>
          </p:cNvPr>
          <p:cNvSpPr>
            <a:spLocks noGrp="1"/>
          </p:cNvSpPr>
          <p:nvPr/>
        </p:nvSpPr>
        <p:spPr>
          <a:xfrm>
            <a:off x="3381375" y="203835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02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39EE761-47CF-41E6-A855-A2008175565E}"/>
              </a:ext>
            </a:extLst>
          </p:cNvPr>
          <p:cNvSpPr>
            <a:spLocks noGrp="1"/>
          </p:cNvSpPr>
          <p:nvPr/>
        </p:nvSpPr>
        <p:spPr>
          <a:xfrm>
            <a:off x="2857500" y="2800350"/>
            <a:ext cx="1600200" cy="352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逆設計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95F4649-D1F3-48B9-97DC-7A235346C796}"/>
              </a:ext>
            </a:extLst>
          </p:cNvPr>
          <p:cNvSpPr>
            <a:spLocks noGrp="1"/>
          </p:cNvSpPr>
          <p:nvPr/>
        </p:nvSpPr>
        <p:spPr>
          <a:xfrm>
            <a:off x="2724150" y="3257550"/>
            <a:ext cx="18669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上位の対戦ログから</a:t>
            </a: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判断ルールを再構築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9AC0DDC2-DC34-4662-B4D4-28D6DC096ED7}"/>
              </a:ext>
            </a:extLst>
          </p:cNvPr>
          <p:cNvSpPr>
            <a:spLocks noGrp="1"/>
          </p:cNvSpPr>
          <p:nvPr/>
        </p:nvSpPr>
        <p:spPr>
          <a:xfrm>
            <a:off x="5514975" y="2038350"/>
            <a:ext cx="552450" cy="55245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A24E7FF-7506-4113-8907-2F1F660B8826}"/>
              </a:ext>
            </a:extLst>
          </p:cNvPr>
          <p:cNvSpPr>
            <a:spLocks noGrp="1"/>
          </p:cNvSpPr>
          <p:nvPr/>
        </p:nvSpPr>
        <p:spPr>
          <a:xfrm>
            <a:off x="5514975" y="203835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03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21AFAEA1-FFA5-49EC-B3A2-A1F7F8C935CF}"/>
              </a:ext>
            </a:extLst>
          </p:cNvPr>
          <p:cNvSpPr>
            <a:spLocks noGrp="1"/>
          </p:cNvSpPr>
          <p:nvPr/>
        </p:nvSpPr>
        <p:spPr>
          <a:xfrm>
            <a:off x="4991100" y="2800350"/>
            <a:ext cx="1600200" cy="352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模倣学習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8FABBFC-1028-4737-9F1D-6BEFE42238E5}"/>
              </a:ext>
            </a:extLst>
          </p:cNvPr>
          <p:cNvSpPr>
            <a:spLocks noGrp="1"/>
          </p:cNvSpPr>
          <p:nvPr/>
        </p:nvSpPr>
        <p:spPr>
          <a:xfrm>
            <a:off x="4857750" y="3257550"/>
            <a:ext cx="18669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強いプレイヤーの手を</a:t>
            </a: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モデルが直接学習</a:t>
            </a:r>
          </a:p>
        </p:txBody>
      </p:sp>
      <p:sp>
        <p:nvSpPr>
          <p:cNvPr id="16" name="円/楕円 15">
            <a:extLst>
              <a:ext uri="{FF2B5EF4-FFF2-40B4-BE49-F238E27FC236}">
                <a16:creationId xmlns:a16="http://schemas.microsoft.com/office/drawing/2014/main" id="{D88B5D2D-B9F9-426E-9DCF-52F8C7AD79EA}"/>
              </a:ext>
            </a:extLst>
          </p:cNvPr>
          <p:cNvSpPr>
            <a:spLocks noGrp="1"/>
          </p:cNvSpPr>
          <p:nvPr/>
        </p:nvSpPr>
        <p:spPr>
          <a:xfrm>
            <a:off x="7648575" y="2038350"/>
            <a:ext cx="552450" cy="552450"/>
          </a:xfrm>
          <a:prstGeom prst="ellipse">
            <a:avLst/>
          </a:prstGeom>
          <a:solidFill>
            <a:srgbClr val="18A73B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870BD20-0222-4F08-9AB0-CE6A6D455D40}"/>
              </a:ext>
            </a:extLst>
          </p:cNvPr>
          <p:cNvSpPr>
            <a:spLocks noGrp="1"/>
          </p:cNvSpPr>
          <p:nvPr/>
        </p:nvSpPr>
        <p:spPr>
          <a:xfrm>
            <a:off x="7648575" y="203835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04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F49ADFB-B330-4003-A8A6-605D62B020DF}"/>
              </a:ext>
            </a:extLst>
          </p:cNvPr>
          <p:cNvSpPr>
            <a:spLocks noGrp="1"/>
          </p:cNvSpPr>
          <p:nvPr/>
        </p:nvSpPr>
        <p:spPr>
          <a:xfrm>
            <a:off x="7124700" y="2800350"/>
            <a:ext cx="1600200" cy="3524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強化学習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4EC97F2-DC60-4B8E-8D2C-AB15E8FAB8F0}"/>
              </a:ext>
            </a:extLst>
          </p:cNvPr>
          <p:cNvSpPr>
            <a:spLocks noGrp="1"/>
          </p:cNvSpPr>
          <p:nvPr/>
        </p:nvSpPr>
        <p:spPr>
          <a:xfrm>
            <a:off x="6991350" y="3257550"/>
            <a:ext cx="18669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教師を超えるために</a:t>
            </a: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自己対戦と探索へ</a:t>
            </a:r>
          </a:p>
        </p:txBody>
      </p:sp>
      <p:pic>
        <p:nvPicPr>
          <p:cNvPr id="44" name="図 4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5E1D9ED-15E6-4A9D-847C-D0CD3BB592FC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735F285D-5861-4246-BBF8-6CC35BB61E96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32548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FCE5B79-FFDD-4DCE-973E-A9A46A01A75D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第1期　ルールベース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B3555E9-568D-48D7-8A3C-CA234E468403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C43E3DF-D635-406B-85FF-3D0D09207EA6}"/>
              </a:ext>
            </a:extLst>
          </p:cNvPr>
          <p:cNvSpPr>
            <a:spLocks noGrp="1"/>
          </p:cNvSpPr>
          <p:nvPr/>
        </p:nvSpPr>
        <p:spPr>
          <a:xfrm>
            <a:off x="571500" y="714375"/>
            <a:ext cx="8001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まずは、人</a:t>
            </a:r>
            <a:r>
              <a:rPr lang="ja-JP" altLang="en-US"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（というか</a:t>
            </a:r>
            <a:r>
              <a:rPr lang="en-US" altLang="ja-JP" sz="1875" b="1" dirty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Claude Code</a:t>
            </a:r>
            <a:r>
              <a:rPr lang="ja-JP" altLang="en-US"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）</a:t>
            </a:r>
            <a:r>
              <a:rPr sz="1875" b="1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が考えた戦略をコードにする</a:t>
            </a:r>
            <a:endParaRPr sz="1875" b="1" dirty="0">
              <a:solidFill>
                <a:srgbClr val="262626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A04E84E-4AAE-4D2F-9AC6-189CFB135A70}"/>
              </a:ext>
            </a:extLst>
          </p:cNvPr>
          <p:cNvSpPr>
            <a:spLocks noGrp="1"/>
          </p:cNvSpPr>
          <p:nvPr/>
        </p:nvSpPr>
        <p:spPr>
          <a:xfrm>
            <a:off x="809625" y="1590675"/>
            <a:ext cx="3476625" cy="504825"/>
          </a:xfrm>
          <a:prstGeom prst="roundRect">
            <a:avLst>
              <a:gd name="adj" fmla="val 15094"/>
            </a:avLst>
          </a:prstGeom>
          <a:solidFill>
            <a:srgbClr val="EAF5F8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カードと盤面の優先順位</a:t>
            </a:r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3C0AF4F9-09B3-47FF-8B6A-4D048B0AF9F0}"/>
              </a:ext>
            </a:extLst>
          </p:cNvPr>
          <p:cNvSpPr>
            <a:spLocks noGrp="1"/>
          </p:cNvSpPr>
          <p:nvPr/>
        </p:nvSpPr>
        <p:spPr>
          <a:xfrm>
            <a:off x="981075" y="2324100"/>
            <a:ext cx="3476625" cy="504825"/>
          </a:xfrm>
          <a:prstGeom prst="roundRect">
            <a:avLst>
              <a:gd name="adj" fmla="val 15094"/>
            </a:avLst>
          </a:prstGeom>
          <a:solidFill>
            <a:srgbClr val="FFF9D9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デッキ固有の条件分岐</a:t>
            </a:r>
          </a:p>
        </p:txBody>
      </p:sp>
      <p:sp>
        <p:nvSpPr>
          <p:cNvPr id="6" name="角丸四角形 5">
            <a:extLst>
              <a:ext uri="{FF2B5EF4-FFF2-40B4-BE49-F238E27FC236}">
                <a16:creationId xmlns:a16="http://schemas.microsoft.com/office/drawing/2014/main" id="{AA796FA8-D5E5-4FBD-BF75-612D2EDEB89B}"/>
              </a:ext>
            </a:extLst>
          </p:cNvPr>
          <p:cNvSpPr>
            <a:spLocks noGrp="1"/>
          </p:cNvSpPr>
          <p:nvPr/>
        </p:nvSpPr>
        <p:spPr>
          <a:xfrm>
            <a:off x="1152525" y="3057525"/>
            <a:ext cx="3476625" cy="504825"/>
          </a:xfrm>
          <a:prstGeom prst="roundRect">
            <a:avLst>
              <a:gd name="adj" fmla="val 15094"/>
            </a:avLst>
          </a:prstGeom>
          <a:solidFill>
            <a:srgbClr val="E9F7EE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勝ちが確定する局面だけ探索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5857FD8-317D-479B-8DA6-E04791820264}"/>
              </a:ext>
            </a:extLst>
          </p:cNvPr>
          <p:cNvSpPr>
            <a:spLocks noGrp="1"/>
          </p:cNvSpPr>
          <p:nvPr/>
        </p:nvSpPr>
        <p:spPr>
          <a:xfrm>
            <a:off x="5305425" y="1485900"/>
            <a:ext cx="2571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代表エージェント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CD22F6A-4605-4E62-ADEF-550412A1F596}"/>
              </a:ext>
            </a:extLst>
          </p:cNvPr>
          <p:cNvSpPr>
            <a:spLocks noGrp="1"/>
          </p:cNvSpPr>
          <p:nvPr/>
        </p:nvSpPr>
        <p:spPr>
          <a:xfrm>
            <a:off x="5305425" y="1847850"/>
            <a:ext cx="2952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007 Lucario lethal</a:t>
            </a:r>
          </a:p>
        </p:txBody>
      </p:sp>
      <p:pic>
        <p:nvPicPr>
          <p:cNvPr id="24" name="図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E977BC2-69EC-4569-8FEB-1FC9B9DB22FB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40E6DE3-B9E1-47D7-90A2-BC3F5CACD882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4337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E06BBAEE-2785-4E59-B9C3-D4B8D96C8D70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第2期　上位エージェントの逆設計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67700F3-7E5A-413D-B1EC-34F43A09E892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514FE18-DBB3-46F6-B840-40E4ED9599D5}"/>
              </a:ext>
            </a:extLst>
          </p:cNvPr>
          <p:cNvSpPr>
            <a:spLocks noGrp="1"/>
          </p:cNvSpPr>
          <p:nvPr/>
        </p:nvSpPr>
        <p:spPr>
          <a:xfrm>
            <a:off x="571500" y="714375"/>
            <a:ext cx="8001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強い人の対戦ログから、判断ルールを再構築する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87A8E68-28ED-4DEC-BEAE-0C581561DCC2}"/>
              </a:ext>
            </a:extLst>
          </p:cNvPr>
          <p:cNvSpPr>
            <a:spLocks noGrp="1"/>
          </p:cNvSpPr>
          <p:nvPr/>
        </p:nvSpPr>
        <p:spPr>
          <a:xfrm>
            <a:off x="647700" y="1638300"/>
            <a:ext cx="14668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集計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EF0D80B-6E24-4EEA-B432-9630356407A7}"/>
              </a:ext>
            </a:extLst>
          </p:cNvPr>
          <p:cNvSpPr>
            <a:spLocks noGrp="1"/>
          </p:cNvSpPr>
          <p:nvPr/>
        </p:nvSpPr>
        <p:spPr>
          <a:xfrm>
            <a:off x="647700" y="2133600"/>
            <a:ext cx="14668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行動頻度と</a:t>
            </a: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デッキを復元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48A01A-E17D-438B-B142-D72A8EE376B3}"/>
              </a:ext>
            </a:extLst>
          </p:cNvPr>
          <p:cNvSpPr>
            <a:spLocks noGrp="1"/>
          </p:cNvSpPr>
          <p:nvPr/>
        </p:nvSpPr>
        <p:spPr>
          <a:xfrm>
            <a:off x="2266950" y="1809750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6F2D39F-A761-4892-A4A0-298106B3C5A9}"/>
              </a:ext>
            </a:extLst>
          </p:cNvPr>
          <p:cNvSpPr>
            <a:spLocks noGrp="1"/>
          </p:cNvSpPr>
          <p:nvPr/>
        </p:nvSpPr>
        <p:spPr>
          <a:xfrm>
            <a:off x="2724150" y="1638300"/>
            <a:ext cx="14668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精読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F9159C6-CDCC-4F42-9B15-CD6F4FD1B9EA}"/>
              </a:ext>
            </a:extLst>
          </p:cNvPr>
          <p:cNvSpPr>
            <a:spLocks noGrp="1"/>
          </p:cNvSpPr>
          <p:nvPr/>
        </p:nvSpPr>
        <p:spPr>
          <a:xfrm>
            <a:off x="2724150" y="2133600"/>
            <a:ext cx="14668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勝ち負け両方の</a:t>
            </a: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対戦を読む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B572888-F38C-4735-8C45-91B471906164}"/>
              </a:ext>
            </a:extLst>
          </p:cNvPr>
          <p:cNvSpPr>
            <a:spLocks noGrp="1"/>
          </p:cNvSpPr>
          <p:nvPr/>
        </p:nvSpPr>
        <p:spPr>
          <a:xfrm>
            <a:off x="4343400" y="1809750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B9DF4CB-C809-45BA-9335-1FA16AEFBE0A}"/>
              </a:ext>
            </a:extLst>
          </p:cNvPr>
          <p:cNvSpPr>
            <a:spLocks noGrp="1"/>
          </p:cNvSpPr>
          <p:nvPr/>
        </p:nvSpPr>
        <p:spPr>
          <a:xfrm>
            <a:off x="4800600" y="1638300"/>
            <a:ext cx="14668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実装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70B7536-DD34-4A72-9E61-0AA62CB1ABA5}"/>
              </a:ext>
            </a:extLst>
          </p:cNvPr>
          <p:cNvSpPr>
            <a:spLocks noGrp="1"/>
          </p:cNvSpPr>
          <p:nvPr/>
        </p:nvSpPr>
        <p:spPr>
          <a:xfrm>
            <a:off x="4800600" y="2133600"/>
            <a:ext cx="14668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条件付きルールへ</a:t>
            </a: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落とし込む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FA2747C-CD62-434D-BFA9-A9B72AEA442E}"/>
              </a:ext>
            </a:extLst>
          </p:cNvPr>
          <p:cNvSpPr>
            <a:spLocks noGrp="1"/>
          </p:cNvSpPr>
          <p:nvPr/>
        </p:nvSpPr>
        <p:spPr>
          <a:xfrm>
            <a:off x="6419850" y="1809750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31AC000-AB95-423D-8A81-BA483FE40883}"/>
              </a:ext>
            </a:extLst>
          </p:cNvPr>
          <p:cNvSpPr>
            <a:spLocks noGrp="1"/>
          </p:cNvSpPr>
          <p:nvPr/>
        </p:nvSpPr>
        <p:spPr>
          <a:xfrm>
            <a:off x="6877050" y="1638300"/>
            <a:ext cx="14668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較正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D714544-B0C8-47E7-BCEE-DA65C88846BF}"/>
              </a:ext>
            </a:extLst>
          </p:cNvPr>
          <p:cNvSpPr>
            <a:spLocks noGrp="1"/>
          </p:cNvSpPr>
          <p:nvPr/>
        </p:nvSpPr>
        <p:spPr>
          <a:xfrm>
            <a:off x="6877050" y="2133600"/>
            <a:ext cx="146685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行動一致率と</a:t>
            </a:r>
          </a:p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対戦で確認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2E75080-A161-406B-AFA6-98AD7C84F92F}"/>
              </a:ext>
            </a:extLst>
          </p:cNvPr>
          <p:cNvSpPr>
            <a:spLocks noGrp="1"/>
          </p:cNvSpPr>
          <p:nvPr/>
        </p:nvSpPr>
        <p:spPr>
          <a:xfrm>
            <a:off x="895350" y="3143250"/>
            <a:ext cx="735330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4ED5D52-95DF-49B4-A389-8C843159388D}"/>
              </a:ext>
            </a:extLst>
          </p:cNvPr>
          <p:cNvSpPr>
            <a:spLocks noGrp="1"/>
          </p:cNvSpPr>
          <p:nvPr/>
        </p:nvSpPr>
        <p:spPr>
          <a:xfrm>
            <a:off x="1295400" y="3419475"/>
            <a:ext cx="2381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045 Alakazam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3F52941-EBE7-4BFC-A70A-A1EFB6E940C5}"/>
              </a:ext>
            </a:extLst>
          </p:cNvPr>
          <p:cNvSpPr>
            <a:spLocks noGrp="1"/>
          </p:cNvSpPr>
          <p:nvPr/>
        </p:nvSpPr>
        <p:spPr>
          <a:xfrm>
            <a:off x="1295400" y="381000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勝敗両方を精読し、</a:t>
            </a:r>
          </a:p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方策をゼロから再構築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A4764A4-55D4-4BFE-97C3-74161CA666F1}"/>
              </a:ext>
            </a:extLst>
          </p:cNvPr>
          <p:cNvSpPr>
            <a:spLocks noGrp="1"/>
          </p:cNvSpPr>
          <p:nvPr/>
        </p:nvSpPr>
        <p:spPr>
          <a:xfrm>
            <a:off x="5467350" y="3419475"/>
            <a:ext cx="2381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051 デッキ2枚変更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A014542-FED1-4814-869A-175DF5891ED9}"/>
              </a:ext>
            </a:extLst>
          </p:cNvPr>
          <p:cNvSpPr>
            <a:spLocks noGrp="1"/>
          </p:cNvSpPr>
          <p:nvPr/>
        </p:nvSpPr>
        <p:spPr>
          <a:xfrm>
            <a:off x="5467350" y="381000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方策を固定したまま、</a:t>
            </a:r>
          </a:p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60枚の構成だけを改善</a:t>
            </a:r>
          </a:p>
        </p:txBody>
      </p:sp>
      <p:pic>
        <p:nvPicPr>
          <p:cNvPr id="42" name="図 4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20FC130-94F6-411C-9C25-28ADF3FB7F82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1EA7844-6776-4634-B59B-69467E2C4C5F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6712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8248B92-AA66-43FE-95EC-3F77D882D4DF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第3期　模倣学習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3D5638E-9B54-4684-8574-52090356B03E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D51F3E8-B2C8-406F-B79D-3F032BCC6A34}"/>
              </a:ext>
            </a:extLst>
          </p:cNvPr>
          <p:cNvSpPr>
            <a:spLocks noGrp="1"/>
          </p:cNvSpPr>
          <p:nvPr/>
        </p:nvSpPr>
        <p:spPr>
          <a:xfrm>
            <a:off x="523875" y="714375"/>
            <a:ext cx="8096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判断ルールの一部を学習で置き換え、最後は全選択をモデル化した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241EE6F-412E-4812-8A13-638AE6993872}"/>
              </a:ext>
            </a:extLst>
          </p:cNvPr>
          <p:cNvSpPr>
            <a:spLocks noGrp="1"/>
          </p:cNvSpPr>
          <p:nvPr/>
        </p:nvSpPr>
        <p:spPr>
          <a:xfrm>
            <a:off x="781050" y="1495425"/>
            <a:ext cx="1809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057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C62D44A-B604-40A1-A04E-C18F63908598}"/>
              </a:ext>
            </a:extLst>
          </p:cNvPr>
          <p:cNvSpPr>
            <a:spLocks noGrp="1"/>
          </p:cNvSpPr>
          <p:nvPr/>
        </p:nvSpPr>
        <p:spPr>
          <a:xfrm>
            <a:off x="781050" y="1781175"/>
            <a:ext cx="1809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21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GBT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6DE04D2-008A-41A0-BF31-F57D88955255}"/>
              </a:ext>
            </a:extLst>
          </p:cNvPr>
          <p:cNvSpPr>
            <a:spLocks noGrp="1"/>
          </p:cNvSpPr>
          <p:nvPr/>
        </p:nvSpPr>
        <p:spPr>
          <a:xfrm>
            <a:off x="781050" y="2371725"/>
            <a:ext cx="18097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主要な判断を</a:t>
            </a:r>
          </a:p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クラス分類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EAB0081-8B4E-4578-8AA7-E69615CDA44B}"/>
              </a:ext>
            </a:extLst>
          </p:cNvPr>
          <p:cNvSpPr>
            <a:spLocks noGrp="1"/>
          </p:cNvSpPr>
          <p:nvPr/>
        </p:nvSpPr>
        <p:spPr>
          <a:xfrm>
            <a:off x="2895600" y="191452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FACC55D-A73D-4D09-B0E8-467E071F9C13}"/>
              </a:ext>
            </a:extLst>
          </p:cNvPr>
          <p:cNvSpPr>
            <a:spLocks noGrp="1"/>
          </p:cNvSpPr>
          <p:nvPr/>
        </p:nvSpPr>
        <p:spPr>
          <a:xfrm>
            <a:off x="3562350" y="1495425"/>
            <a:ext cx="1809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094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22D5EAD-2A8D-40CD-807F-79BE318F3C1F}"/>
              </a:ext>
            </a:extLst>
          </p:cNvPr>
          <p:cNvSpPr>
            <a:spLocks noGrp="1"/>
          </p:cNvSpPr>
          <p:nvPr/>
        </p:nvSpPr>
        <p:spPr>
          <a:xfrm>
            <a:off x="3562350" y="1781175"/>
            <a:ext cx="1809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21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LSTM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2E1BD66-1FF6-46D0-901C-18FFC2B956E8}"/>
              </a:ext>
            </a:extLst>
          </p:cNvPr>
          <p:cNvSpPr>
            <a:spLocks noGrp="1"/>
          </p:cNvSpPr>
          <p:nvPr/>
        </p:nvSpPr>
        <p:spPr>
          <a:xfrm>
            <a:off x="3562350" y="2371725"/>
            <a:ext cx="18097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14種類の選択場面を</a:t>
            </a:r>
          </a:p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1モデルで判断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87E5A39-6888-4B4C-B1BC-D07F04E0D7B0}"/>
              </a:ext>
            </a:extLst>
          </p:cNvPr>
          <p:cNvSpPr>
            <a:spLocks noGrp="1"/>
          </p:cNvSpPr>
          <p:nvPr/>
        </p:nvSpPr>
        <p:spPr>
          <a:xfrm>
            <a:off x="5676900" y="191452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C8002B7-CDFE-4D39-9595-B56F65CF339E}"/>
              </a:ext>
            </a:extLst>
          </p:cNvPr>
          <p:cNvSpPr>
            <a:spLocks noGrp="1"/>
          </p:cNvSpPr>
          <p:nvPr/>
        </p:nvSpPr>
        <p:spPr>
          <a:xfrm>
            <a:off x="6343650" y="1495425"/>
            <a:ext cx="1809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186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2FA891D-142C-4534-A281-A9FFB517845A}"/>
              </a:ext>
            </a:extLst>
          </p:cNvPr>
          <p:cNvSpPr>
            <a:spLocks noGrp="1"/>
          </p:cNvSpPr>
          <p:nvPr/>
        </p:nvSpPr>
        <p:spPr>
          <a:xfrm>
            <a:off x="6343650" y="1781175"/>
            <a:ext cx="1809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21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LSTM v8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AC048B3-93F8-4DA1-8B4D-5EC291EDFF8A}"/>
              </a:ext>
            </a:extLst>
          </p:cNvPr>
          <p:cNvSpPr>
            <a:spLocks noGrp="1"/>
          </p:cNvSpPr>
          <p:nvPr/>
        </p:nvSpPr>
        <p:spPr>
          <a:xfrm>
            <a:off x="6343650" y="2371725"/>
            <a:ext cx="18097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特徴と正規化を</a:t>
            </a:r>
          </a:p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総点検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4C26844-29A0-439E-98ED-DCED12EE9CD3}"/>
              </a:ext>
            </a:extLst>
          </p:cNvPr>
          <p:cNvSpPr>
            <a:spLocks noGrp="1"/>
          </p:cNvSpPr>
          <p:nvPr/>
        </p:nvSpPr>
        <p:spPr>
          <a:xfrm>
            <a:off x="1000125" y="3314700"/>
            <a:ext cx="714375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CB8E909-9483-474E-BA97-B3753787FBA2}"/>
              </a:ext>
            </a:extLst>
          </p:cNvPr>
          <p:cNvSpPr>
            <a:spLocks noGrp="1"/>
          </p:cNvSpPr>
          <p:nvPr/>
        </p:nvSpPr>
        <p:spPr>
          <a:xfrm>
            <a:off x="1409700" y="3562350"/>
            <a:ext cx="1714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5,309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C7CB92A-0BAC-47EB-832E-D2C8F3DC171C}"/>
              </a:ext>
            </a:extLst>
          </p:cNvPr>
          <p:cNvSpPr>
            <a:spLocks noGrp="1"/>
          </p:cNvSpPr>
          <p:nvPr/>
        </p:nvSpPr>
        <p:spPr>
          <a:xfrm>
            <a:off x="1409700" y="40767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教師の対戦数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1E0C901-E2C7-461A-B5C2-74BCC7E8A8BE}"/>
              </a:ext>
            </a:extLst>
          </p:cNvPr>
          <p:cNvSpPr>
            <a:spLocks noGrp="1"/>
          </p:cNvSpPr>
          <p:nvPr/>
        </p:nvSpPr>
        <p:spPr>
          <a:xfrm>
            <a:off x="3714750" y="3562350"/>
            <a:ext cx="19050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435,150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45A4DB8-FE18-4972-9471-BB08ED9F1AE5}"/>
              </a:ext>
            </a:extLst>
          </p:cNvPr>
          <p:cNvSpPr>
            <a:spLocks noGrp="1"/>
          </p:cNvSpPr>
          <p:nvPr/>
        </p:nvSpPr>
        <p:spPr>
          <a:xfrm>
            <a:off x="3714750" y="4076700"/>
            <a:ext cx="1905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教師の意思決定</a:t>
            </a:r>
          </a:p>
        </p:txBody>
      </p:sp>
      <p:sp>
        <p:nvSpPr>
          <p:cNvPr id="20" name="角丸四角形 19">
            <a:extLst>
              <a:ext uri="{FF2B5EF4-FFF2-40B4-BE49-F238E27FC236}">
                <a16:creationId xmlns:a16="http://schemas.microsoft.com/office/drawing/2014/main" id="{82DEE646-7C65-4337-9037-BF69A84FBD50}"/>
              </a:ext>
            </a:extLst>
          </p:cNvPr>
          <p:cNvSpPr>
            <a:spLocks noGrp="1"/>
          </p:cNvSpPr>
          <p:nvPr/>
        </p:nvSpPr>
        <p:spPr>
          <a:xfrm>
            <a:off x="6219825" y="3648075"/>
            <a:ext cx="1809750" cy="600075"/>
          </a:xfrm>
          <a:prstGeom prst="roundRect">
            <a:avLst>
              <a:gd name="adj" fmla="val 9524"/>
            </a:avLst>
          </a:prstGeom>
          <a:solidFill>
            <a:srgbClr val="E9F7EE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ルール再現版を</a:t>
            </a:r>
          </a:p>
          <a:p>
            <a:pPr algn="ctr">
              <a:defRPr sz="14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大きく上回る</a:t>
            </a:r>
          </a:p>
        </p:txBody>
      </p:sp>
      <p:pic>
        <p:nvPicPr>
          <p:cNvPr id="44" name="図 4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45C4E95-A5E7-466F-B815-462B60F1382E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F99098B-818C-4676-99D7-9B6935E5DB1F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530322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EE350C2F-CB7E-448B-8955-20C21EDEDD2E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第4期　強化学習と探索への挑戦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08513E9-72D8-4D04-B4FB-C856C19528CA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7C5AC45-D1C5-44EF-BA19-25CEE9D776FF}"/>
              </a:ext>
            </a:extLst>
          </p:cNvPr>
          <p:cNvSpPr>
            <a:spLocks noGrp="1"/>
          </p:cNvSpPr>
          <p:nvPr/>
        </p:nvSpPr>
        <p:spPr>
          <a:xfrm>
            <a:off x="523875" y="685800"/>
            <a:ext cx="8096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強化学習と探索を6つの方法で試したが、採用には至らなかった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220D7A4-2269-4CB2-B228-63474D055D62}"/>
              </a:ext>
            </a:extLst>
          </p:cNvPr>
          <p:cNvSpPr>
            <a:spLocks noGrp="1"/>
          </p:cNvSpPr>
          <p:nvPr/>
        </p:nvSpPr>
        <p:spPr>
          <a:xfrm>
            <a:off x="647700" y="1304925"/>
            <a:ext cx="3619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方策を勝敗から更新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F08F8C3-DB6A-4FDD-B2AC-ACB4C80D0A5C}"/>
              </a:ext>
            </a:extLst>
          </p:cNvPr>
          <p:cNvSpPr>
            <a:spLocks noGrp="1"/>
          </p:cNvSpPr>
          <p:nvPr/>
        </p:nvSpPr>
        <p:spPr>
          <a:xfrm>
            <a:off x="4876800" y="1304925"/>
            <a:ext cx="3619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良い手を別の方法で作る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40EF3E7-750D-464D-A135-1BEB4042EF5D}"/>
              </a:ext>
            </a:extLst>
          </p:cNvPr>
          <p:cNvSpPr>
            <a:spLocks noGrp="1"/>
          </p:cNvSpPr>
          <p:nvPr/>
        </p:nvSpPr>
        <p:spPr>
          <a:xfrm>
            <a:off x="571500" y="1752600"/>
            <a:ext cx="361950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FF0D691-F589-4573-9615-37291062B34E}"/>
              </a:ext>
            </a:extLst>
          </p:cNvPr>
          <p:cNvSpPr>
            <a:spLocks noGrp="1"/>
          </p:cNvSpPr>
          <p:nvPr/>
        </p:nvSpPr>
        <p:spPr>
          <a:xfrm>
            <a:off x="628650" y="1819275"/>
            <a:ext cx="1285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REINFORCE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85C7515-3724-4F6C-B1C9-AB80260EC515}"/>
              </a:ext>
            </a:extLst>
          </p:cNvPr>
          <p:cNvSpPr>
            <a:spLocks noGrp="1"/>
          </p:cNvSpPr>
          <p:nvPr/>
        </p:nvSpPr>
        <p:spPr>
          <a:xfrm>
            <a:off x="1952625" y="1781175"/>
            <a:ext cx="21812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模倣学習の初期値から自己対戦を12周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3CE9CDB-3843-42BD-A405-FDA363893F31}"/>
              </a:ext>
            </a:extLst>
          </p:cNvPr>
          <p:cNvSpPr>
            <a:spLocks noGrp="1"/>
          </p:cNvSpPr>
          <p:nvPr/>
        </p:nvSpPr>
        <p:spPr>
          <a:xfrm>
            <a:off x="1952625" y="2105025"/>
            <a:ext cx="21812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rPr>
              <a:t>改善なし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990C7A7-A51F-4B2B-BAFF-FB1C2641B007}"/>
              </a:ext>
            </a:extLst>
          </p:cNvPr>
          <p:cNvSpPr>
            <a:spLocks noGrp="1"/>
          </p:cNvSpPr>
          <p:nvPr/>
        </p:nvSpPr>
        <p:spPr>
          <a:xfrm>
            <a:off x="571500" y="2476500"/>
            <a:ext cx="361950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96B6C39-7CC7-44C8-A5BC-6B1F8380EDBF}"/>
              </a:ext>
            </a:extLst>
          </p:cNvPr>
          <p:cNvSpPr>
            <a:spLocks noGrp="1"/>
          </p:cNvSpPr>
          <p:nvPr/>
        </p:nvSpPr>
        <p:spPr>
          <a:xfrm>
            <a:off x="628650" y="2543175"/>
            <a:ext cx="1285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PPO + GAE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EF133AF-A976-46E4-9B06-B0833829C59E}"/>
              </a:ext>
            </a:extLst>
          </p:cNvPr>
          <p:cNvSpPr>
            <a:spLocks noGrp="1"/>
          </p:cNvSpPr>
          <p:nvPr/>
        </p:nvSpPr>
        <p:spPr>
          <a:xfrm>
            <a:off x="1952625" y="2505075"/>
            <a:ext cx="21812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価値モデル・KL制約・リーグで6万試合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4B1DAC5-14A3-4B47-AE74-18A02DF313E3}"/>
              </a:ext>
            </a:extLst>
          </p:cNvPr>
          <p:cNvSpPr>
            <a:spLocks noGrp="1"/>
          </p:cNvSpPr>
          <p:nvPr/>
        </p:nvSpPr>
        <p:spPr>
          <a:xfrm>
            <a:off x="1952625" y="2828925"/>
            <a:ext cx="21812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rPr>
              <a:t>性能が低下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18CA804-7BD3-46BE-BC0F-6782B9CC9088}"/>
              </a:ext>
            </a:extLst>
          </p:cNvPr>
          <p:cNvSpPr>
            <a:spLocks noGrp="1"/>
          </p:cNvSpPr>
          <p:nvPr/>
        </p:nvSpPr>
        <p:spPr>
          <a:xfrm>
            <a:off x="571500" y="3200400"/>
            <a:ext cx="361950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6049235-3139-4BDF-ADBA-B6B6B79E70BF}"/>
              </a:ext>
            </a:extLst>
          </p:cNvPr>
          <p:cNvSpPr>
            <a:spLocks noGrp="1"/>
          </p:cNvSpPr>
          <p:nvPr/>
        </p:nvSpPr>
        <p:spPr>
          <a:xfrm>
            <a:off x="628650" y="3267075"/>
            <a:ext cx="1285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AWR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8C92331-8487-448B-8D5F-2F2AE5E7ABE4}"/>
              </a:ext>
            </a:extLst>
          </p:cNvPr>
          <p:cNvSpPr>
            <a:spLocks noGrp="1"/>
          </p:cNvSpPr>
          <p:nvPr/>
        </p:nvSpPr>
        <p:spPr>
          <a:xfrm>
            <a:off x="1952625" y="3228975"/>
            <a:ext cx="21812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勝敗と価値で教師の手を重み付け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0B8CEDC-C19F-4696-AD12-B3ADB8F5566A}"/>
              </a:ext>
            </a:extLst>
          </p:cNvPr>
          <p:cNvSpPr>
            <a:spLocks noGrp="1"/>
          </p:cNvSpPr>
          <p:nvPr/>
        </p:nvSpPr>
        <p:spPr>
          <a:xfrm>
            <a:off x="1952625" y="3552825"/>
            <a:ext cx="21812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rPr>
              <a:t>改善なし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12EB0DA-CAF4-4024-849D-97E17660FC49}"/>
              </a:ext>
            </a:extLst>
          </p:cNvPr>
          <p:cNvSpPr>
            <a:spLocks noGrp="1"/>
          </p:cNvSpPr>
          <p:nvPr/>
        </p:nvSpPr>
        <p:spPr>
          <a:xfrm>
            <a:off x="4857750" y="1752600"/>
            <a:ext cx="361950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D67DDBF-FDCC-474A-AFC7-8019899755FB}"/>
              </a:ext>
            </a:extLst>
          </p:cNvPr>
          <p:cNvSpPr>
            <a:spLocks noGrp="1"/>
          </p:cNvSpPr>
          <p:nvPr/>
        </p:nvSpPr>
        <p:spPr>
          <a:xfrm>
            <a:off x="4914900" y="1819275"/>
            <a:ext cx="1285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価値誘導探索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AFA10CC-9087-4B71-AD4B-340225F9F693}"/>
              </a:ext>
            </a:extLst>
          </p:cNvPr>
          <p:cNvSpPr>
            <a:spLocks noGrp="1"/>
          </p:cNvSpPr>
          <p:nvPr/>
        </p:nvSpPr>
        <p:spPr>
          <a:xfrm>
            <a:off x="6238875" y="1781175"/>
            <a:ext cx="21812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学習した局面価値で候補手を比較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4610601-542C-4060-8C30-E8C2FE83B33A}"/>
              </a:ext>
            </a:extLst>
          </p:cNvPr>
          <p:cNvSpPr>
            <a:spLocks noGrp="1"/>
          </p:cNvSpPr>
          <p:nvPr/>
        </p:nvSpPr>
        <p:spPr>
          <a:xfrm>
            <a:off x="6238875" y="2105025"/>
            <a:ext cx="21812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rPr>
              <a:t>行動差を識別できず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8B47CC1-7A20-49BC-97F2-7430C7044B89}"/>
              </a:ext>
            </a:extLst>
          </p:cNvPr>
          <p:cNvSpPr>
            <a:spLocks noGrp="1"/>
          </p:cNvSpPr>
          <p:nvPr/>
        </p:nvSpPr>
        <p:spPr>
          <a:xfrm>
            <a:off x="4857750" y="2476500"/>
            <a:ext cx="361950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A4B77E17-8AD3-489B-A5F9-4D26E8E2DFE1}"/>
              </a:ext>
            </a:extLst>
          </p:cNvPr>
          <p:cNvSpPr>
            <a:spLocks noGrp="1"/>
          </p:cNvSpPr>
          <p:nvPr/>
        </p:nvSpPr>
        <p:spPr>
          <a:xfrm>
            <a:off x="4914900" y="2543175"/>
            <a:ext cx="1285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自己模倣（SIL）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0371957-2FF5-4B98-9542-C79DE66AEFB8}"/>
              </a:ext>
            </a:extLst>
          </p:cNvPr>
          <p:cNvSpPr>
            <a:spLocks noGrp="1"/>
          </p:cNvSpPr>
          <p:nvPr/>
        </p:nvSpPr>
        <p:spPr>
          <a:xfrm>
            <a:off x="6238875" y="2505075"/>
            <a:ext cx="21812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自分が勝った試合を追加学習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6D50530-678B-43E3-B21C-F5ED45973951}"/>
              </a:ext>
            </a:extLst>
          </p:cNvPr>
          <p:cNvSpPr>
            <a:spLocks noGrp="1"/>
          </p:cNvSpPr>
          <p:nvPr/>
        </p:nvSpPr>
        <p:spPr>
          <a:xfrm>
            <a:off x="6238875" y="2828925"/>
            <a:ext cx="21812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rPr>
              <a:t>16条件で改善なし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B1A32F4-1EB7-463F-A616-C3F7DDAE0FB6}"/>
              </a:ext>
            </a:extLst>
          </p:cNvPr>
          <p:cNvSpPr>
            <a:spLocks noGrp="1"/>
          </p:cNvSpPr>
          <p:nvPr/>
        </p:nvSpPr>
        <p:spPr>
          <a:xfrm>
            <a:off x="4857750" y="3200400"/>
            <a:ext cx="361950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1591125-058D-4E88-B205-825334BE887E}"/>
              </a:ext>
            </a:extLst>
          </p:cNvPr>
          <p:cNvSpPr>
            <a:spLocks noGrp="1"/>
          </p:cNvSpPr>
          <p:nvPr/>
        </p:nvSpPr>
        <p:spPr>
          <a:xfrm>
            <a:off x="4914900" y="3267075"/>
            <a:ext cx="1285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Expert Iteration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80A2B9BF-2DA3-4285-82BA-92B40E55CA3D}"/>
              </a:ext>
            </a:extLst>
          </p:cNvPr>
          <p:cNvSpPr>
            <a:spLocks noGrp="1"/>
          </p:cNvSpPr>
          <p:nvPr/>
        </p:nvSpPr>
        <p:spPr>
          <a:xfrm>
            <a:off x="6238875" y="3228975"/>
            <a:ext cx="218122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決定化ロールアウトで教師を補正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B2E880E-38D0-4C6B-B48D-2D52F93C4E47}"/>
              </a:ext>
            </a:extLst>
          </p:cNvPr>
          <p:cNvSpPr>
            <a:spLocks noGrp="1"/>
          </p:cNvSpPr>
          <p:nvPr/>
        </p:nvSpPr>
        <p:spPr>
          <a:xfrm>
            <a:off x="6238875" y="3552825"/>
            <a:ext cx="21812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rPr>
              <a:t>補正例が不足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90126C9-950B-4A70-92BE-685CBE62A090}"/>
              </a:ext>
            </a:extLst>
          </p:cNvPr>
          <p:cNvSpPr>
            <a:spLocks noGrp="1"/>
          </p:cNvSpPr>
          <p:nvPr/>
        </p:nvSpPr>
        <p:spPr>
          <a:xfrm>
            <a:off x="4572000" y="1600200"/>
            <a:ext cx="9525" cy="223837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9FE5E612-9C9A-4E05-96E1-360F2B625099}"/>
              </a:ext>
            </a:extLst>
          </p:cNvPr>
          <p:cNvSpPr>
            <a:spLocks noGrp="1"/>
          </p:cNvSpPr>
          <p:nvPr/>
        </p:nvSpPr>
        <p:spPr>
          <a:xfrm>
            <a:off x="714375" y="4114800"/>
            <a:ext cx="7715250" cy="409575"/>
          </a:xfrm>
          <a:prstGeom prst="roundRect">
            <a:avLst>
              <a:gd name="adj" fmla="val 13953"/>
            </a:avLst>
          </a:prstGeom>
          <a:solidFill>
            <a:srgbClr val="FDECEE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rPr>
              <a:t>改善信号の粒度と量が、方策全体を安全に更新するには足りなかった</a:t>
            </a:r>
          </a:p>
        </p:txBody>
      </p:sp>
      <p:pic>
        <p:nvPicPr>
          <p:cNvPr id="66" name="図 6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94B94220-78D6-416C-8335-6EDC34CC6626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4397CCF3-3D30-46E5-B9CB-F5E3C7491A7A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29769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FF0A92E-0945-484B-BBAF-34CE7D517348}"/>
              </a:ext>
            </a:extLst>
          </p:cNvPr>
          <p:cNvSpPr>
            <a:spLocks noGrp="1"/>
          </p:cNvSpPr>
          <p:nvPr/>
        </p:nvSpPr>
        <p:spPr>
          <a:xfrm>
            <a:off x="1238250" y="1809750"/>
            <a:ext cx="66675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30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最高スコアのエージェント 186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4D82E76-BAB3-42BA-9451-8FA7241DDBBE}"/>
              </a:ext>
            </a:extLst>
          </p:cNvPr>
          <p:cNvSpPr>
            <a:spLocks noGrp="1"/>
          </p:cNvSpPr>
          <p:nvPr/>
        </p:nvSpPr>
        <p:spPr>
          <a:xfrm>
            <a:off x="1809750" y="2714625"/>
            <a:ext cx="5524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強豪の全選択を学んだAlakazamエージェント</a:t>
            </a:r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031AAE4-1AFD-448A-973B-2DCDA4348F53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5BC2763-24AA-4D26-8AD7-C570B2A098BA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47572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C67ED6B-B246-452A-8977-85E6533638E1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186の入力と記憶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F52A4DE-9904-4452-9D06-FB67050C700A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3C8993B-0A9C-4A77-A402-AEFE8365F65B}"/>
              </a:ext>
            </a:extLst>
          </p:cNvPr>
          <p:cNvSpPr>
            <a:spLocks noGrp="1"/>
          </p:cNvSpPr>
          <p:nvPr/>
        </p:nvSpPr>
        <p:spPr>
          <a:xfrm>
            <a:off x="571500" y="695325"/>
            <a:ext cx="8001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現在の盤面に、直前までの選択と相手の行動履歴を重ねる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AE17BBF-F584-4996-AEBC-B1C104E38A79}"/>
              </a:ext>
            </a:extLst>
          </p:cNvPr>
          <p:cNvSpPr>
            <a:spLocks noGrp="1"/>
          </p:cNvSpPr>
          <p:nvPr/>
        </p:nvSpPr>
        <p:spPr>
          <a:xfrm>
            <a:off x="457200" y="1381125"/>
            <a:ext cx="179070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盤面</a:t>
            </a:r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4B2FE1D8-2B34-47DA-9806-7EE66DFA9F8E}"/>
              </a:ext>
            </a:extLst>
          </p:cNvPr>
          <p:cNvSpPr>
            <a:spLocks noGrp="1"/>
          </p:cNvSpPr>
          <p:nvPr/>
        </p:nvSpPr>
        <p:spPr>
          <a:xfrm>
            <a:off x="457200" y="1695450"/>
            <a:ext cx="1790700" cy="409575"/>
          </a:xfrm>
          <a:prstGeom prst="roundRect">
            <a:avLst>
              <a:gd name="adj" fmla="val 13953"/>
            </a:avLst>
          </a:prstGeom>
          <a:solidFill>
            <a:srgbClr val="EAF5F8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456次元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961BB07-F1C8-456D-9340-59AB45ADBD05}"/>
              </a:ext>
            </a:extLst>
          </p:cNvPr>
          <p:cNvSpPr>
            <a:spLocks noGrp="1"/>
          </p:cNvSpPr>
          <p:nvPr/>
        </p:nvSpPr>
        <p:spPr>
          <a:xfrm>
            <a:off x="396691" y="2197474"/>
            <a:ext cx="1856254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手札・場・サイド・山札</a:t>
            </a:r>
            <a:endParaRPr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 dirty="0" err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相手の公開情報とデッキ推定</a:t>
            </a:r>
            <a:endParaRPr sz="975" b="0" dirty="0">
              <a:solidFill>
                <a:srgbClr val="777777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5E55CAE-42CF-43F2-A944-5C50714E4647}"/>
              </a:ext>
            </a:extLst>
          </p:cNvPr>
          <p:cNvSpPr>
            <a:spLocks noGrp="1"/>
          </p:cNvSpPr>
          <p:nvPr/>
        </p:nvSpPr>
        <p:spPr>
          <a:xfrm>
            <a:off x="2276475" y="17430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+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F077F7D-3DAE-4ECD-B496-0067924411BC}"/>
              </a:ext>
            </a:extLst>
          </p:cNvPr>
          <p:cNvSpPr>
            <a:spLocks noGrp="1"/>
          </p:cNvSpPr>
          <p:nvPr/>
        </p:nvSpPr>
        <p:spPr>
          <a:xfrm>
            <a:off x="2571750" y="1381125"/>
            <a:ext cx="179070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ログ</a:t>
            </a:r>
          </a:p>
        </p:txBody>
      </p: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B82EFCE5-377D-4187-BAB9-4A86C0C0845E}"/>
              </a:ext>
            </a:extLst>
          </p:cNvPr>
          <p:cNvSpPr>
            <a:spLocks noGrp="1"/>
          </p:cNvSpPr>
          <p:nvPr/>
        </p:nvSpPr>
        <p:spPr>
          <a:xfrm>
            <a:off x="2571750" y="1695450"/>
            <a:ext cx="1790700" cy="409575"/>
          </a:xfrm>
          <a:prstGeom prst="roundRect">
            <a:avLst>
              <a:gd name="adj" fmla="val 13953"/>
            </a:avLst>
          </a:prstGeom>
          <a:solidFill>
            <a:srgbClr val="FFF9D9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53次元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81D2F2C-2238-4779-B213-25311028B62B}"/>
              </a:ext>
            </a:extLst>
          </p:cNvPr>
          <p:cNvSpPr>
            <a:spLocks noGrp="1"/>
          </p:cNvSpPr>
          <p:nvPr/>
        </p:nvSpPr>
        <p:spPr>
          <a:xfrm>
            <a:off x="2600325" y="2190750"/>
            <a:ext cx="17335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前回の決定以降に</a:t>
            </a:r>
          </a:p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相手が行った操作を要約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6F38603-B5C4-47FE-8BC1-2FA2AA961465}"/>
              </a:ext>
            </a:extLst>
          </p:cNvPr>
          <p:cNvSpPr>
            <a:spLocks noGrp="1"/>
          </p:cNvSpPr>
          <p:nvPr/>
        </p:nvSpPr>
        <p:spPr>
          <a:xfrm>
            <a:off x="4391025" y="17430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+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A4A20BE-93B2-497B-88D7-7C3E70A1BE5B}"/>
              </a:ext>
            </a:extLst>
          </p:cNvPr>
          <p:cNvSpPr>
            <a:spLocks noGrp="1"/>
          </p:cNvSpPr>
          <p:nvPr/>
        </p:nvSpPr>
        <p:spPr>
          <a:xfrm>
            <a:off x="4686300" y="1381125"/>
            <a:ext cx="179070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直前の選択</a:t>
            </a:r>
          </a:p>
        </p:txBody>
      </p: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0F5832A9-ADB3-4A2F-A6F3-16521C1FBD10}"/>
              </a:ext>
            </a:extLst>
          </p:cNvPr>
          <p:cNvSpPr>
            <a:spLocks noGrp="1"/>
          </p:cNvSpPr>
          <p:nvPr/>
        </p:nvSpPr>
        <p:spPr>
          <a:xfrm>
            <a:off x="4686300" y="1695450"/>
            <a:ext cx="1790700" cy="409575"/>
          </a:xfrm>
          <a:prstGeom prst="roundRect">
            <a:avLst>
              <a:gd name="adj" fmla="val 13953"/>
            </a:avLst>
          </a:prstGeom>
          <a:solidFill>
            <a:srgbClr val="E9F7EE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34次元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2777D83-97ED-4C85-8750-6EA2AA3DEE2C}"/>
              </a:ext>
            </a:extLst>
          </p:cNvPr>
          <p:cNvSpPr>
            <a:spLocks noGrp="1"/>
          </p:cNvSpPr>
          <p:nvPr/>
        </p:nvSpPr>
        <p:spPr>
          <a:xfrm>
            <a:off x="4714875" y="2190750"/>
            <a:ext cx="17335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カード埋め込み32次元</a:t>
            </a:r>
          </a:p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選択タイプ・対象エリア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506E8FE-33AA-491E-9B8F-A32B51F4128D}"/>
              </a:ext>
            </a:extLst>
          </p:cNvPr>
          <p:cNvSpPr>
            <a:spLocks noGrp="1"/>
          </p:cNvSpPr>
          <p:nvPr/>
        </p:nvSpPr>
        <p:spPr>
          <a:xfrm>
            <a:off x="6505575" y="17430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+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858C2D7-855B-4E46-8C0A-53C65F89FFB3}"/>
              </a:ext>
            </a:extLst>
          </p:cNvPr>
          <p:cNvSpPr>
            <a:spLocks noGrp="1"/>
          </p:cNvSpPr>
          <p:nvPr/>
        </p:nvSpPr>
        <p:spPr>
          <a:xfrm>
            <a:off x="6800850" y="1381125"/>
            <a:ext cx="179070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文脈</a:t>
            </a:r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E69391A1-1FAA-41F6-BA3A-B385D80E0486}"/>
              </a:ext>
            </a:extLst>
          </p:cNvPr>
          <p:cNvSpPr>
            <a:spLocks noGrp="1"/>
          </p:cNvSpPr>
          <p:nvPr/>
        </p:nvSpPr>
        <p:spPr>
          <a:xfrm>
            <a:off x="6800850" y="1695450"/>
            <a:ext cx="1790700" cy="409575"/>
          </a:xfrm>
          <a:prstGeom prst="roundRect">
            <a:avLst>
              <a:gd name="adj" fmla="val 13953"/>
            </a:avLst>
          </a:prstGeom>
          <a:solidFill>
            <a:srgbClr val="FCEAF5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16次元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B471E58-C96F-4B6F-BDD8-0A0A2D8D47FE}"/>
              </a:ext>
            </a:extLst>
          </p:cNvPr>
          <p:cNvSpPr>
            <a:spLocks noGrp="1"/>
          </p:cNvSpPr>
          <p:nvPr/>
        </p:nvSpPr>
        <p:spPr>
          <a:xfrm>
            <a:off x="6829425" y="2190750"/>
            <a:ext cx="17335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攻撃・サーチ・捨て札など</a:t>
            </a:r>
          </a:p>
          <a:p>
            <a:pPr algn="ctr">
              <a:def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選択場面の種類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E0EB3A9-65C2-4F13-8F6C-0A8133630DB0}"/>
              </a:ext>
            </a:extLst>
          </p:cNvPr>
          <p:cNvSpPr>
            <a:spLocks noGrp="1"/>
          </p:cNvSpPr>
          <p:nvPr/>
        </p:nvSpPr>
        <p:spPr>
          <a:xfrm>
            <a:off x="609600" y="3133725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合計559次元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9577E45-7CE0-4104-986D-756E8B6D402E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17405660-AE35-4EA6-AC61-7315501B383C}"/>
              </a:ext>
            </a:extLst>
          </p:cNvPr>
          <p:cNvSpPr>
            <a:spLocks noGrp="1"/>
          </p:cNvSpPr>
          <p:nvPr/>
        </p:nvSpPr>
        <p:spPr>
          <a:xfrm>
            <a:off x="2943225" y="3000375"/>
            <a:ext cx="1619250" cy="685800"/>
          </a:xfrm>
          <a:prstGeom prst="roundRect">
            <a:avLst>
              <a:gd name="adj" fmla="val 8333"/>
            </a:avLst>
          </a:prstGeom>
          <a:solidFill>
            <a:srgbClr val="EAF5F8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2層MLP</a:t>
            </a:r>
          </a:p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256次元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FF57764-7C15-4828-B1EE-BA1153670C7B}"/>
              </a:ext>
            </a:extLst>
          </p:cNvPr>
          <p:cNvSpPr>
            <a:spLocks noGrp="1"/>
          </p:cNvSpPr>
          <p:nvPr/>
        </p:nvSpPr>
        <p:spPr>
          <a:xfrm>
            <a:off x="4657725" y="31527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C9385458-C3C7-44C8-A486-51C57FC49CD4}"/>
              </a:ext>
            </a:extLst>
          </p:cNvPr>
          <p:cNvSpPr>
            <a:spLocks noGrp="1"/>
          </p:cNvSpPr>
          <p:nvPr/>
        </p:nvSpPr>
        <p:spPr>
          <a:xfrm>
            <a:off x="5019675" y="3000375"/>
            <a:ext cx="1809750" cy="685800"/>
          </a:xfrm>
          <a:prstGeom prst="roundRect">
            <a:avLst>
              <a:gd name="adj" fmla="val 8333"/>
            </a:avLst>
          </a:prstGeom>
          <a:solidFill>
            <a:srgbClr val="E9F7EE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2層LSTM</a:t>
            </a:r>
          </a:p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各256ユニット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8E8B060-0F23-459E-A5E7-44BC70BB44EC}"/>
              </a:ext>
            </a:extLst>
          </p:cNvPr>
          <p:cNvSpPr>
            <a:spLocks noGrp="1"/>
          </p:cNvSpPr>
          <p:nvPr/>
        </p:nvSpPr>
        <p:spPr>
          <a:xfrm>
            <a:off x="6924675" y="31527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8E9D095-9E18-414D-9631-8D4C8E9B4EE1}"/>
              </a:ext>
            </a:extLst>
          </p:cNvPr>
          <p:cNvSpPr>
            <a:spLocks noGrp="1"/>
          </p:cNvSpPr>
          <p:nvPr/>
        </p:nvSpPr>
        <p:spPr>
          <a:xfrm>
            <a:off x="7267575" y="3000375"/>
            <a:ext cx="1381125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意思決定の履歴を</a:t>
            </a:r>
          </a:p>
          <a:p>
            <a:pPr algn="ctr">
              <a:def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次の選択へ渡す</a:t>
            </a:r>
          </a:p>
        </p:txBody>
      </p:sp>
      <p:sp>
        <p:nvSpPr>
          <p:cNvPr id="26" name="角丸四角形 25">
            <a:extLst>
              <a:ext uri="{FF2B5EF4-FFF2-40B4-BE49-F238E27FC236}">
                <a16:creationId xmlns:a16="http://schemas.microsoft.com/office/drawing/2014/main" id="{88D397C6-1B93-41B0-AAA6-B6053B268B18}"/>
              </a:ext>
            </a:extLst>
          </p:cNvPr>
          <p:cNvSpPr>
            <a:spLocks noGrp="1"/>
          </p:cNvSpPr>
          <p:nvPr/>
        </p:nvSpPr>
        <p:spPr>
          <a:xfrm>
            <a:off x="1066800" y="4095750"/>
            <a:ext cx="7010400" cy="361950"/>
          </a:xfrm>
          <a:prstGeom prst="roundRect">
            <a:avLst>
              <a:gd name="adj" fmla="val 15789"/>
            </a:avLst>
          </a:prstGeom>
          <a:solidFill>
            <a:srgbClr val="F7F7F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強制手ではLSTMを進めず、学習時と本番時の系列を一致させる</a:t>
            </a:r>
          </a:p>
        </p:txBody>
      </p:sp>
      <p:pic>
        <p:nvPicPr>
          <p:cNvPr id="56" name="図 5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DF54AD6E-6E4E-4B2D-B72A-04DA3B67174F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681F0BC5-C20A-4D2A-B273-3C76D7E0105F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20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E65EC9C-727C-4527-AB0E-46FD6041390C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186が合法手を選ぶ仕組み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6552CD3-1C92-4E10-9285-A2B40C0A0A0E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5288B98-8022-41D1-94B8-2C30D1662D23}"/>
              </a:ext>
            </a:extLst>
          </p:cNvPr>
          <p:cNvSpPr>
            <a:spLocks noGrp="1"/>
          </p:cNvSpPr>
          <p:nvPr/>
        </p:nvSpPr>
        <p:spPr>
          <a:xfrm>
            <a:off x="523875" y="695325"/>
            <a:ext cx="8096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LSTMの状態と各選択肢を別々に符号化し、相性で順位を決める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D3EE279-3037-4246-8791-D2F4C05A5CFF}"/>
              </a:ext>
            </a:extLst>
          </p:cNvPr>
          <p:cNvSpPr>
            <a:spLocks noGrp="1"/>
          </p:cNvSpPr>
          <p:nvPr/>
        </p:nvSpPr>
        <p:spPr>
          <a:xfrm>
            <a:off x="666750" y="1371600"/>
            <a:ext cx="390525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局面側</a:t>
            </a:r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D1932C3D-A0FA-49F8-A623-286E1E27A0E6}"/>
              </a:ext>
            </a:extLst>
          </p:cNvPr>
          <p:cNvSpPr>
            <a:spLocks noGrp="1"/>
          </p:cNvSpPr>
          <p:nvPr/>
        </p:nvSpPr>
        <p:spPr>
          <a:xfrm>
            <a:off x="733425" y="1724025"/>
            <a:ext cx="1809750" cy="647700"/>
          </a:xfrm>
          <a:prstGeom prst="roundRect">
            <a:avLst>
              <a:gd name="adj" fmla="val 8824"/>
            </a:avLst>
          </a:prstGeom>
          <a:solidFill>
            <a:srgbClr val="E9F7EE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LSTM状態</a:t>
            </a:r>
          </a:p>
          <a:p>
            <a:pPr algn="ctr">
              <a:defRPr sz="14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256次元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9CAC349-73C5-452C-B84E-E1D9DFD9AC5B}"/>
              </a:ext>
            </a:extLst>
          </p:cNvPr>
          <p:cNvSpPr>
            <a:spLocks noGrp="1"/>
          </p:cNvSpPr>
          <p:nvPr/>
        </p:nvSpPr>
        <p:spPr>
          <a:xfrm>
            <a:off x="2628900" y="18573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3B287953-7A0E-4ADE-B130-AF176B2360E8}"/>
              </a:ext>
            </a:extLst>
          </p:cNvPr>
          <p:cNvSpPr>
            <a:spLocks noGrp="1"/>
          </p:cNvSpPr>
          <p:nvPr/>
        </p:nvSpPr>
        <p:spPr>
          <a:xfrm>
            <a:off x="3028950" y="1743075"/>
            <a:ext cx="1381125" cy="609600"/>
          </a:xfrm>
          <a:prstGeom prst="roundRect">
            <a:avLst>
              <a:gd name="adj" fmla="val 9375"/>
            </a:avLst>
          </a:prstGeom>
          <a:solidFill>
            <a:srgbClr val="EAF5F8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Query</a:t>
            </a:r>
          </a:p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64次元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7D7361F-069F-46F5-B557-5B8ADAF3F829}"/>
              </a:ext>
            </a:extLst>
          </p:cNvPr>
          <p:cNvSpPr>
            <a:spLocks noGrp="1"/>
          </p:cNvSpPr>
          <p:nvPr/>
        </p:nvSpPr>
        <p:spPr>
          <a:xfrm>
            <a:off x="990600" y="2476500"/>
            <a:ext cx="31432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線形変換 + 文脈別スケール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8936F3C-CC68-4CF1-8967-E447E0250A58}"/>
              </a:ext>
            </a:extLst>
          </p:cNvPr>
          <p:cNvSpPr>
            <a:spLocks noGrp="1"/>
          </p:cNvSpPr>
          <p:nvPr/>
        </p:nvSpPr>
        <p:spPr>
          <a:xfrm>
            <a:off x="4762500" y="1371600"/>
            <a:ext cx="371475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選択肢側</a:t>
            </a:r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6DB9C538-E9B7-4831-9F5F-6243893E52FD}"/>
              </a:ext>
            </a:extLst>
          </p:cNvPr>
          <p:cNvSpPr>
            <a:spLocks noGrp="1"/>
          </p:cNvSpPr>
          <p:nvPr/>
        </p:nvSpPr>
        <p:spPr>
          <a:xfrm>
            <a:off x="4857750" y="1724025"/>
            <a:ext cx="2143125" cy="647700"/>
          </a:xfrm>
          <a:prstGeom prst="roundRect">
            <a:avLst>
              <a:gd name="adj" fmla="val 8824"/>
            </a:avLst>
          </a:prstGeom>
          <a:solidFill>
            <a:srgbClr val="FFF9D9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カード埋め込み 32</a:t>
            </a:r>
          </a:p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+ 選択肢特徴 30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6F06F7-64EC-49ED-B2FF-AAAA5240784B}"/>
              </a:ext>
            </a:extLst>
          </p:cNvPr>
          <p:cNvSpPr>
            <a:spLocks noGrp="1"/>
          </p:cNvSpPr>
          <p:nvPr/>
        </p:nvSpPr>
        <p:spPr>
          <a:xfrm>
            <a:off x="7096125" y="185737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393D3FB8-D76F-4094-A12D-1A9B706809A6}"/>
              </a:ext>
            </a:extLst>
          </p:cNvPr>
          <p:cNvSpPr>
            <a:spLocks noGrp="1"/>
          </p:cNvSpPr>
          <p:nvPr/>
        </p:nvSpPr>
        <p:spPr>
          <a:xfrm>
            <a:off x="7496175" y="1743075"/>
            <a:ext cx="1143000" cy="609600"/>
          </a:xfrm>
          <a:prstGeom prst="roundRect">
            <a:avLst>
              <a:gd name="adj" fmla="val 9375"/>
            </a:avLst>
          </a:prstGeom>
          <a:solidFill>
            <a:srgbClr val="FCEAF5"/>
          </a:solidFill>
          <a:ln w="9525">
            <a:solidFill>
              <a:srgbClr val="D9D9D9"/>
            </a:solidFill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Option</a:t>
            </a:r>
          </a:p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64次元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1C9CAE1-C435-4334-A4CF-3A88E1EF2F7F}"/>
              </a:ext>
            </a:extLst>
          </p:cNvPr>
          <p:cNvSpPr>
            <a:spLocks noGrp="1"/>
          </p:cNvSpPr>
          <p:nvPr/>
        </p:nvSpPr>
        <p:spPr>
          <a:xfrm>
            <a:off x="5010150" y="2476500"/>
            <a:ext cx="3333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2層MLPで選択肢ごとに符号化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7EB3E1-E20C-4BDA-92D6-DF9180E7A66B}"/>
              </a:ext>
            </a:extLst>
          </p:cNvPr>
          <p:cNvSpPr>
            <a:spLocks noGrp="1"/>
          </p:cNvSpPr>
          <p:nvPr/>
        </p:nvSpPr>
        <p:spPr>
          <a:xfrm>
            <a:off x="952500" y="3028950"/>
            <a:ext cx="7239000" cy="952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DE77160-7333-4991-A68B-52947E65D14C}"/>
              </a:ext>
            </a:extLst>
          </p:cNvPr>
          <p:cNvSpPr>
            <a:spLocks noGrp="1"/>
          </p:cNvSpPr>
          <p:nvPr/>
        </p:nvSpPr>
        <p:spPr>
          <a:xfrm>
            <a:off x="1123950" y="3257550"/>
            <a:ext cx="9525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内積</a:t>
            </a:r>
          </a:p>
        </p:txBody>
      </p:sp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C9056E47-5E3C-4FCE-A310-107269ADED5B}"/>
              </a:ext>
            </a:extLst>
          </p:cNvPr>
          <p:cNvSpPr>
            <a:spLocks noGrp="1"/>
          </p:cNvSpPr>
          <p:nvPr/>
        </p:nvSpPr>
        <p:spPr>
          <a:xfrm>
            <a:off x="2181225" y="3257550"/>
            <a:ext cx="1809750" cy="476250"/>
          </a:xfrm>
          <a:prstGeom prst="roundRect">
            <a:avLst>
              <a:gd name="adj" fmla="val 12000"/>
            </a:avLst>
          </a:prstGeom>
          <a:solidFill>
            <a:srgbClr val="EAF5F8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Query × Option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CCC2030-27EE-48D9-A5A4-A0F465E5D345}"/>
              </a:ext>
            </a:extLst>
          </p:cNvPr>
          <p:cNvSpPr>
            <a:spLocks noGrp="1"/>
          </p:cNvSpPr>
          <p:nvPr/>
        </p:nvSpPr>
        <p:spPr>
          <a:xfrm>
            <a:off x="4057650" y="3257550"/>
            <a:ext cx="4000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+</a:t>
            </a:r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AF5479F6-858A-4E51-9059-59B408790006}"/>
              </a:ext>
            </a:extLst>
          </p:cNvPr>
          <p:cNvSpPr>
            <a:spLocks noGrp="1"/>
          </p:cNvSpPr>
          <p:nvPr/>
        </p:nvSpPr>
        <p:spPr>
          <a:xfrm>
            <a:off x="4514850" y="3171825"/>
            <a:ext cx="2095500" cy="647700"/>
          </a:xfrm>
          <a:prstGeom prst="roundRect">
            <a:avLst>
              <a:gd name="adj" fmla="val 8824"/>
            </a:avLst>
          </a:prstGeom>
          <a:solidFill>
            <a:srgbClr val="FFF9D9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MAINのみ</a:t>
            </a:r>
          </a:p>
          <a:p>
            <a:pPr algn="ctr">
              <a:def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65行動クラスの補正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A2E9800-2C1E-4C49-A90C-EF89870C7438}"/>
              </a:ext>
            </a:extLst>
          </p:cNvPr>
          <p:cNvSpPr>
            <a:spLocks noGrp="1"/>
          </p:cNvSpPr>
          <p:nvPr/>
        </p:nvSpPr>
        <p:spPr>
          <a:xfrm>
            <a:off x="6696075" y="3286125"/>
            <a:ext cx="2667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37A243D-03D6-44E1-94A0-D497D54E0F19}"/>
              </a:ext>
            </a:extLst>
          </p:cNvPr>
          <p:cNvSpPr>
            <a:spLocks noGrp="1"/>
          </p:cNvSpPr>
          <p:nvPr/>
        </p:nvSpPr>
        <p:spPr>
          <a:xfrm>
            <a:off x="6858000" y="3171825"/>
            <a:ext cx="17145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合法手を順位付けし</a:t>
            </a:r>
          </a:p>
          <a:p>
            <a:pPr algn="ctr">
              <a:def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上位を選択</a:t>
            </a:r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0E3257BA-5776-44E8-8F39-B1E78BB86947}"/>
              </a:ext>
            </a:extLst>
          </p:cNvPr>
          <p:cNvSpPr>
            <a:spLocks noGrp="1"/>
          </p:cNvSpPr>
          <p:nvPr/>
        </p:nvSpPr>
        <p:spPr>
          <a:xfrm>
            <a:off x="857250" y="4162425"/>
            <a:ext cx="7429500" cy="361950"/>
          </a:xfrm>
          <a:prstGeom prst="roundRect">
            <a:avLst>
              <a:gd name="adj" fmla="val 15789"/>
            </a:avLst>
          </a:prstGeom>
          <a:solidFill>
            <a:srgbClr val="F7F7F7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 dirty="0" err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可変個の選択肢を同じモデルで扱う</a:t>
            </a:r>
            <a:r>
              <a:rPr sz="1125" b="1" dirty="0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 pointer </a:t>
            </a:r>
            <a:r>
              <a:rPr sz="1125" b="1" dirty="0" err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型方策</a:t>
            </a:r>
            <a:endParaRPr sz="1125" b="1" dirty="0">
              <a:solidFill>
                <a:srgbClr val="0580B2"/>
              </a:solidFill>
              <a:latin typeface="Hiragino Sans"/>
              <a:ea typeface="Hiragino Sans"/>
              <a:cs typeface="Hiragino Sans"/>
            </a:endParaRPr>
          </a:p>
        </p:txBody>
      </p:sp>
      <p:pic>
        <p:nvPicPr>
          <p:cNvPr id="46" name="図 4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C0303D48-3DE1-4123-A806-AC4E50A0FB45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6ED3C09-4EE4-48A5-A54F-B9F7136DEE2C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898541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1014FDA-3CFE-4C6E-9B4D-C658EA17487E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186に至る最後の改善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9F25192-BB09-49D3-9BF2-D77A9CFBB05E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EE97458-158C-44E8-9455-C08EB65B4E75}"/>
              </a:ext>
            </a:extLst>
          </p:cNvPr>
          <p:cNvSpPr>
            <a:spLocks noGrp="1"/>
          </p:cNvSpPr>
          <p:nvPr/>
        </p:nvSpPr>
        <p:spPr>
          <a:xfrm>
            <a:off x="571500" y="704850"/>
            <a:ext cx="8001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186では、入力と学習条件の整合を優先した</a:t>
            </a:r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0017E462-BF6A-40E6-A8F0-8CE43537DCBB}"/>
              </a:ext>
            </a:extLst>
          </p:cNvPr>
          <p:cNvSpPr>
            <a:spLocks noGrp="1"/>
          </p:cNvSpPr>
          <p:nvPr/>
        </p:nvSpPr>
        <p:spPr>
          <a:xfrm>
            <a:off x="723900" y="1457325"/>
            <a:ext cx="1047750" cy="523875"/>
          </a:xfrm>
          <a:prstGeom prst="roundRect">
            <a:avLst>
              <a:gd name="adj" fmla="val 10909"/>
            </a:avLst>
          </a:prstGeom>
          <a:solidFill>
            <a:srgbClr val="EAF5F8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データ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1F711A3-0137-474D-AD18-5CA255B16310}"/>
              </a:ext>
            </a:extLst>
          </p:cNvPr>
          <p:cNvSpPr>
            <a:spLocks noGrp="1"/>
          </p:cNvSpPr>
          <p:nvPr/>
        </p:nvSpPr>
        <p:spPr>
          <a:xfrm>
            <a:off x="2038350" y="1457325"/>
            <a:ext cx="4476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7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教師データを8月7日まで拡張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1F761E-5322-4DFE-BB18-58E4120B6949}"/>
              </a:ext>
            </a:extLst>
          </p:cNvPr>
          <p:cNvSpPr>
            <a:spLocks noGrp="1"/>
          </p:cNvSpPr>
          <p:nvPr/>
        </p:nvSpPr>
        <p:spPr>
          <a:xfrm>
            <a:off x="6753225" y="1457325"/>
            <a:ext cx="1619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5,309試合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DA46A746-A161-4B6A-977F-CF651B3BFFEF}"/>
              </a:ext>
            </a:extLst>
          </p:cNvPr>
          <p:cNvSpPr>
            <a:spLocks noGrp="1"/>
          </p:cNvSpPr>
          <p:nvPr/>
        </p:nvSpPr>
        <p:spPr>
          <a:xfrm>
            <a:off x="723900" y="2324100"/>
            <a:ext cx="1047750" cy="523875"/>
          </a:xfrm>
          <a:prstGeom prst="roundRect">
            <a:avLst>
              <a:gd name="adj" fmla="val 10909"/>
            </a:avLst>
          </a:prstGeom>
          <a:solidFill>
            <a:srgbClr val="EAF5F8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特徴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6A52563-457C-4AFA-A1A3-932AE861314A}"/>
              </a:ext>
            </a:extLst>
          </p:cNvPr>
          <p:cNvSpPr>
            <a:spLocks noGrp="1"/>
          </p:cNvSpPr>
          <p:nvPr/>
        </p:nvSpPr>
        <p:spPr>
          <a:xfrm>
            <a:off x="2038350" y="2324100"/>
            <a:ext cx="4476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7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重複・定数・根拠の薄い列を整理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E421306-FB50-4C4B-A770-974A674CFDE0}"/>
              </a:ext>
            </a:extLst>
          </p:cNvPr>
          <p:cNvSpPr>
            <a:spLocks noGrp="1"/>
          </p:cNvSpPr>
          <p:nvPr/>
        </p:nvSpPr>
        <p:spPr>
          <a:xfrm>
            <a:off x="6753225" y="2324100"/>
            <a:ext cx="1619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 dirty="0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456次元</a:t>
            </a:r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A8B1B3AB-E848-4B7F-8E1D-C59F0352021B}"/>
              </a:ext>
            </a:extLst>
          </p:cNvPr>
          <p:cNvSpPr>
            <a:spLocks noGrp="1"/>
          </p:cNvSpPr>
          <p:nvPr/>
        </p:nvSpPr>
        <p:spPr>
          <a:xfrm>
            <a:off x="723900" y="3190875"/>
            <a:ext cx="1047750" cy="523875"/>
          </a:xfrm>
          <a:prstGeom prst="roundRect">
            <a:avLst>
              <a:gd name="adj" fmla="val 10909"/>
            </a:avLst>
          </a:prstGeom>
          <a:solidFill>
            <a:srgbClr val="EAF5F8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正規化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7701291-A13D-4A18-B534-2AC5483D9939}"/>
              </a:ext>
            </a:extLst>
          </p:cNvPr>
          <p:cNvSpPr>
            <a:spLocks noGrp="1"/>
          </p:cNvSpPr>
          <p:nvPr/>
        </p:nvSpPr>
        <p:spPr>
          <a:xfrm>
            <a:off x="2038350" y="3190875"/>
            <a:ext cx="44767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7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稀な特徴が極端な値になる欠陥を修正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8103467-1204-4B4B-9514-5D8F6131363A}"/>
              </a:ext>
            </a:extLst>
          </p:cNvPr>
          <p:cNvSpPr>
            <a:spLocks noGrp="1"/>
          </p:cNvSpPr>
          <p:nvPr/>
        </p:nvSpPr>
        <p:spPr>
          <a:xfrm>
            <a:off x="6753225" y="3190875"/>
            <a:ext cx="161925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350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D63B47"/>
                </a:solidFill>
                <a:latin typeface="Hiragino Sans"/>
                <a:ea typeface="Hiragino Sans"/>
                <a:cs typeface="Hiragino Sans"/>
              </a:rPr>
              <a:t>修正前 最大199.7σ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1601297-8126-4E9F-99F4-2935B432631C}"/>
              </a:ext>
            </a:extLst>
          </p:cNvPr>
          <p:cNvSpPr>
            <a:spLocks noGrp="1"/>
          </p:cNvSpPr>
          <p:nvPr/>
        </p:nvSpPr>
        <p:spPr>
          <a:xfrm>
            <a:off x="762000" y="4248150"/>
            <a:ext cx="7620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教師データの範囲、特徴量の定義、正規化をそろえて学習した</a:t>
            </a:r>
          </a:p>
        </p:txBody>
      </p:sp>
      <p:pic>
        <p:nvPicPr>
          <p:cNvPr id="30" name="図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8BC1B4E-4D44-4C71-9F8D-4FE625158C7C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423F1AA-D7CC-4CE9-BE2D-C5B27B6F4F6A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37806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DACA067-0CF0-40D5-9271-693541807806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結果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CCA2E422-37E0-AB71-50CB-040A7E1D4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244" y="1187825"/>
            <a:ext cx="8586286" cy="3015422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C5FFB36-7D4A-AA72-76FA-92245103FF71}"/>
              </a:ext>
            </a:extLst>
          </p:cNvPr>
          <p:cNvSpPr/>
          <p:nvPr/>
        </p:nvSpPr>
        <p:spPr>
          <a:xfrm>
            <a:off x="457200" y="2597269"/>
            <a:ext cx="8498541" cy="5103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3748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BD74BCE-391B-4811-B2E5-E83C1E4FE36E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学び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25E4E18-7FA8-47DF-BB9A-332B911615D6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6457A4C-AB30-473F-B60B-3112F861FEDF}"/>
              </a:ext>
            </a:extLst>
          </p:cNvPr>
          <p:cNvSpPr>
            <a:spLocks noGrp="1"/>
          </p:cNvSpPr>
          <p:nvPr/>
        </p:nvSpPr>
        <p:spPr>
          <a:xfrm>
            <a:off x="571500" y="714375"/>
            <a:ext cx="8001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75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 dirty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Claude </a:t>
            </a:r>
            <a:r>
              <a:rPr sz="1875" b="1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Codeに任せるために必要だったもの</a:t>
            </a:r>
            <a:endParaRPr sz="1875" b="1" dirty="0">
              <a:solidFill>
                <a:srgbClr val="262626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4" name="円/楕円 3">
            <a:extLst>
              <a:ext uri="{FF2B5EF4-FFF2-40B4-BE49-F238E27FC236}">
                <a16:creationId xmlns:a16="http://schemas.microsoft.com/office/drawing/2014/main" id="{4483FED2-F58F-4DA9-98C6-0A4C0DAF9381}"/>
              </a:ext>
            </a:extLst>
          </p:cNvPr>
          <p:cNvSpPr>
            <a:spLocks noGrp="1"/>
          </p:cNvSpPr>
          <p:nvPr/>
        </p:nvSpPr>
        <p:spPr>
          <a:xfrm>
            <a:off x="1476375" y="1438275"/>
            <a:ext cx="590550" cy="59055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8BA1CDD-C31C-41F1-89EF-7662985FAD06}"/>
              </a:ext>
            </a:extLst>
          </p:cNvPr>
          <p:cNvSpPr>
            <a:spLocks noGrp="1"/>
          </p:cNvSpPr>
          <p:nvPr/>
        </p:nvSpPr>
        <p:spPr>
          <a:xfrm>
            <a:off x="1476375" y="1438275"/>
            <a:ext cx="5905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制約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FB91ADD-19F0-4878-B215-FB2378071631}"/>
              </a:ext>
            </a:extLst>
          </p:cNvPr>
          <p:cNvSpPr>
            <a:spLocks noGrp="1"/>
          </p:cNvSpPr>
          <p:nvPr/>
        </p:nvSpPr>
        <p:spPr>
          <a:xfrm>
            <a:off x="838200" y="2181225"/>
            <a:ext cx="18669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何を守るか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CAD21B7-9174-4FB6-B497-590596076BE3}"/>
              </a:ext>
            </a:extLst>
          </p:cNvPr>
          <p:cNvSpPr>
            <a:spLocks noGrp="1"/>
          </p:cNvSpPr>
          <p:nvPr/>
        </p:nvSpPr>
        <p:spPr>
          <a:xfrm>
            <a:off x="647700" y="2619375"/>
            <a:ext cx="22479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実験条件と合否基準を</a:t>
            </a:r>
          </a:p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CLAUDE.mdに固定</a:t>
            </a:r>
          </a:p>
        </p:txBody>
      </p:sp>
      <p:sp>
        <p:nvSpPr>
          <p:cNvPr id="8" name="円/楕円 7">
            <a:extLst>
              <a:ext uri="{FF2B5EF4-FFF2-40B4-BE49-F238E27FC236}">
                <a16:creationId xmlns:a16="http://schemas.microsoft.com/office/drawing/2014/main" id="{4EC5F523-0F2C-4F84-B968-ECFDF22234C5}"/>
              </a:ext>
            </a:extLst>
          </p:cNvPr>
          <p:cNvSpPr>
            <a:spLocks noGrp="1"/>
          </p:cNvSpPr>
          <p:nvPr/>
        </p:nvSpPr>
        <p:spPr>
          <a:xfrm>
            <a:off x="4295775" y="1438275"/>
            <a:ext cx="590550" cy="590550"/>
          </a:xfrm>
          <a:prstGeom prst="ellipse">
            <a:avLst/>
          </a:prstGeom>
          <a:solidFill>
            <a:srgbClr val="20BEFF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AACD42F-913D-4FB5-8CC6-32E52C2C7A2D}"/>
              </a:ext>
            </a:extLst>
          </p:cNvPr>
          <p:cNvSpPr>
            <a:spLocks noGrp="1"/>
          </p:cNvSpPr>
          <p:nvPr/>
        </p:nvSpPr>
        <p:spPr>
          <a:xfrm>
            <a:off x="4295775" y="1438275"/>
            <a:ext cx="5905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記憶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54AFD79-6C9D-433B-8506-0595C370C434}"/>
              </a:ext>
            </a:extLst>
          </p:cNvPr>
          <p:cNvSpPr>
            <a:spLocks noGrp="1"/>
          </p:cNvSpPr>
          <p:nvPr/>
        </p:nvSpPr>
        <p:spPr>
          <a:xfrm>
            <a:off x="3657600" y="2181225"/>
            <a:ext cx="18669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何を学んだか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40DDF29-7CC6-401B-8C65-BFC836129E61}"/>
              </a:ext>
            </a:extLst>
          </p:cNvPr>
          <p:cNvSpPr>
            <a:spLocks noGrp="1"/>
          </p:cNvSpPr>
          <p:nvPr/>
        </p:nvSpPr>
        <p:spPr>
          <a:xfrm>
            <a:off x="3467100" y="2619375"/>
            <a:ext cx="22479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成功だけでなく棄却理由も</a:t>
            </a:r>
          </a:p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knowledgeに残す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4F9C4854-DB94-45EB-93F0-7DA8CDE48C8C}"/>
              </a:ext>
            </a:extLst>
          </p:cNvPr>
          <p:cNvSpPr>
            <a:spLocks noGrp="1"/>
          </p:cNvSpPr>
          <p:nvPr/>
        </p:nvSpPr>
        <p:spPr>
          <a:xfrm>
            <a:off x="7115175" y="1438275"/>
            <a:ext cx="590550" cy="590550"/>
          </a:xfrm>
          <a:prstGeom prst="ellipse">
            <a:avLst/>
          </a:prstGeom>
          <a:solidFill>
            <a:srgbClr val="18A73B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F0EA3810-E152-4BA3-844D-BFC4F740E172}"/>
              </a:ext>
            </a:extLst>
          </p:cNvPr>
          <p:cNvSpPr>
            <a:spLocks noGrp="1"/>
          </p:cNvSpPr>
          <p:nvPr/>
        </p:nvSpPr>
        <p:spPr>
          <a:xfrm>
            <a:off x="7115175" y="1438275"/>
            <a:ext cx="5905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検証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3ED65A4-1EC5-4606-B55C-BAF65623F2FB}"/>
              </a:ext>
            </a:extLst>
          </p:cNvPr>
          <p:cNvSpPr>
            <a:spLocks noGrp="1"/>
          </p:cNvSpPr>
          <p:nvPr/>
        </p:nvSpPr>
        <p:spPr>
          <a:xfrm>
            <a:off x="6477000" y="2181225"/>
            <a:ext cx="18669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本当に強くなったか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30FE411-E00A-46E6-A691-94CD607BB21E}"/>
              </a:ext>
            </a:extLst>
          </p:cNvPr>
          <p:cNvSpPr>
            <a:spLocks noGrp="1"/>
          </p:cNvSpPr>
          <p:nvPr/>
        </p:nvSpPr>
        <p:spPr>
          <a:xfrm>
            <a:off x="6286500" y="2619375"/>
            <a:ext cx="22479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コード完成ではなく</a:t>
            </a:r>
          </a:p>
          <a:p>
            <a:pPr algn="ctr">
              <a:def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777777"/>
                </a:solidFill>
                <a:latin typeface="Hiragino Sans"/>
                <a:ea typeface="Hiragino Sans"/>
                <a:cs typeface="Hiragino Sans"/>
              </a:rPr>
              <a:t>対戦結果で採否を決める</a:t>
            </a:r>
          </a:p>
        </p:txBody>
      </p:sp>
      <p:sp>
        <p:nvSpPr>
          <p:cNvPr id="16" name="角丸四角形 15">
            <a:extLst>
              <a:ext uri="{FF2B5EF4-FFF2-40B4-BE49-F238E27FC236}">
                <a16:creationId xmlns:a16="http://schemas.microsoft.com/office/drawing/2014/main" id="{11C9D342-2D8E-46F3-94F4-6C47D51639AD}"/>
              </a:ext>
            </a:extLst>
          </p:cNvPr>
          <p:cNvSpPr>
            <a:spLocks noGrp="1"/>
          </p:cNvSpPr>
          <p:nvPr/>
        </p:nvSpPr>
        <p:spPr>
          <a:xfrm>
            <a:off x="857250" y="3829050"/>
            <a:ext cx="7429500" cy="485775"/>
          </a:xfrm>
          <a:prstGeom prst="roundRect">
            <a:avLst>
              <a:gd name="adj" fmla="val 11765"/>
            </a:avLst>
          </a:prstGeom>
          <a:solidFill>
            <a:srgbClr val="EAF5F8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 dirty="0" err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判断基準と記憶を与えることで、自律的に</a:t>
            </a:r>
            <a:r>
              <a:rPr lang="ja-JP" altLang="en-US" sz="13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実験</a:t>
            </a:r>
            <a:r>
              <a:rPr sz="1350" b="1" dirty="0" err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を進められた</a:t>
            </a:r>
            <a:endParaRPr sz="1350" b="1" dirty="0">
              <a:solidFill>
                <a:srgbClr val="0580B2"/>
              </a:solidFill>
              <a:latin typeface="Hiragino Sans"/>
              <a:ea typeface="Hiragino Sans"/>
              <a:cs typeface="Hiragino Sans"/>
            </a:endParaRPr>
          </a:p>
        </p:txBody>
      </p:sp>
      <p:pic>
        <p:nvPicPr>
          <p:cNvPr id="36" name="図 3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BF2E20C-8102-47A2-A959-18503DC74C82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5B53176F-8D98-4E11-851A-A4B4B7720664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86325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7FB49B6-5E6F-4C13-8AAF-56A2621AA762}"/>
              </a:ext>
            </a:extLst>
          </p:cNvPr>
          <p:cNvSpPr>
            <a:spLocks noGrp="1"/>
          </p:cNvSpPr>
          <p:nvPr/>
        </p:nvSpPr>
        <p:spPr>
          <a:xfrm>
            <a:off x="190500" y="1333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まとめ</a:t>
            </a:r>
            <a:r>
              <a:rPr lang="ja-JP" altLang="en-US" sz="1050" b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と課題</a:t>
            </a:r>
            <a:endParaRPr sz="1050" b="1" dirty="0">
              <a:solidFill>
                <a:srgbClr val="262626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44CD5C4-E050-4BF2-B32D-9E4EC7D5A8FD}"/>
              </a:ext>
            </a:extLst>
          </p:cNvPr>
          <p:cNvSpPr>
            <a:spLocks noGrp="1"/>
          </p:cNvSpPr>
          <p:nvPr/>
        </p:nvSpPr>
        <p:spPr>
          <a:xfrm>
            <a:off x="190500" y="447675"/>
            <a:ext cx="8724900" cy="28575"/>
          </a:xfrm>
          <a:prstGeom prst="rect">
            <a:avLst/>
          </a:prstGeom>
          <a:solidFill>
            <a:srgbClr val="FFE113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23F4F0A-53AD-481B-B444-9E4F7F13E15D}"/>
              </a:ext>
            </a:extLst>
          </p:cNvPr>
          <p:cNvSpPr>
            <a:spLocks noGrp="1"/>
          </p:cNvSpPr>
          <p:nvPr/>
        </p:nvSpPr>
        <p:spPr>
          <a:xfrm>
            <a:off x="857250" y="86677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任せられたこと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C15DB69-6E41-4A80-9F75-DCB7C349A405}"/>
              </a:ext>
            </a:extLst>
          </p:cNvPr>
          <p:cNvSpPr>
            <a:spLocks noGrp="1"/>
          </p:cNvSpPr>
          <p:nvPr/>
        </p:nvSpPr>
        <p:spPr>
          <a:xfrm>
            <a:off x="5143500" y="86677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人が担ったこと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B8C5E04-5D4A-42C1-ABD3-7EB3E453F498}"/>
              </a:ext>
            </a:extLst>
          </p:cNvPr>
          <p:cNvSpPr>
            <a:spLocks noGrp="1"/>
          </p:cNvSpPr>
          <p:nvPr/>
        </p:nvSpPr>
        <p:spPr>
          <a:xfrm>
            <a:off x="1009650" y="1495425"/>
            <a:ext cx="238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A360C30-33AE-42A3-81D6-AD8A3C570791}"/>
              </a:ext>
            </a:extLst>
          </p:cNvPr>
          <p:cNvSpPr>
            <a:spLocks noGrp="1"/>
          </p:cNvSpPr>
          <p:nvPr/>
        </p:nvSpPr>
        <p:spPr>
          <a:xfrm>
            <a:off x="1314450" y="1457325"/>
            <a:ext cx="2667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大量のアイデアを実装する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43F0563-C197-4117-B100-DAA00793DB7D}"/>
              </a:ext>
            </a:extLst>
          </p:cNvPr>
          <p:cNvSpPr>
            <a:spLocks noGrp="1"/>
          </p:cNvSpPr>
          <p:nvPr/>
        </p:nvSpPr>
        <p:spPr>
          <a:xfrm>
            <a:off x="1009650" y="2085975"/>
            <a:ext cx="238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619D193-BBFE-4247-8D47-625B8D522F6B}"/>
              </a:ext>
            </a:extLst>
          </p:cNvPr>
          <p:cNvSpPr>
            <a:spLocks noGrp="1"/>
          </p:cNvSpPr>
          <p:nvPr/>
        </p:nvSpPr>
        <p:spPr>
          <a:xfrm>
            <a:off x="1314450" y="2047875"/>
            <a:ext cx="2667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定めた手順で対戦検証する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949961-373F-4EFF-BA87-C2C3FAB0A67F}"/>
              </a:ext>
            </a:extLst>
          </p:cNvPr>
          <p:cNvSpPr>
            <a:spLocks noGrp="1"/>
          </p:cNvSpPr>
          <p:nvPr/>
        </p:nvSpPr>
        <p:spPr>
          <a:xfrm>
            <a:off x="1009650" y="2676525"/>
            <a:ext cx="238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20BEF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20BEFF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ED85476-ECF2-4F3B-A9C9-2AEFEEFF773E}"/>
              </a:ext>
            </a:extLst>
          </p:cNvPr>
          <p:cNvSpPr>
            <a:spLocks noGrp="1"/>
          </p:cNvSpPr>
          <p:nvPr/>
        </p:nvSpPr>
        <p:spPr>
          <a:xfrm>
            <a:off x="1314450" y="2638425"/>
            <a:ext cx="2667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結果と</a:t>
            </a:r>
            <a:r>
              <a:rPr lang="ja-JP" altLang="en-US"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知見</a:t>
            </a:r>
            <a:r>
              <a:rPr sz="1200" b="0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を次の実験へ戻す</a:t>
            </a:r>
            <a:endParaRPr sz="1200" b="0" dirty="0">
              <a:solidFill>
                <a:srgbClr val="262626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1A19EB7-2193-4B9D-925F-FEF47E7B4DCA}"/>
              </a:ext>
            </a:extLst>
          </p:cNvPr>
          <p:cNvSpPr>
            <a:spLocks noGrp="1"/>
          </p:cNvSpPr>
          <p:nvPr/>
        </p:nvSpPr>
        <p:spPr>
          <a:xfrm>
            <a:off x="5286375" y="1495425"/>
            <a:ext cx="238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9AC7406-E453-49AC-A9E5-A053EA55009A}"/>
              </a:ext>
            </a:extLst>
          </p:cNvPr>
          <p:cNvSpPr>
            <a:spLocks noGrp="1"/>
          </p:cNvSpPr>
          <p:nvPr/>
        </p:nvSpPr>
        <p:spPr>
          <a:xfrm>
            <a:off x="5591175" y="1457325"/>
            <a:ext cx="2667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200" b="1">
                <a:solidFill>
                  <a:srgbClr val="FF0000"/>
                </a:solidFill>
                <a:latin typeface="Hiragino Sans"/>
                <a:ea typeface="Hiragino Sans"/>
                <a:cs typeface="Hiragino Sans"/>
              </a:rPr>
              <a:t>アイデアの方向性を与える</a:t>
            </a:r>
            <a:endParaRPr sz="1200" b="1" dirty="0">
              <a:solidFill>
                <a:srgbClr val="FF0000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A0095EF-18DB-4211-B566-8CEA74938C2A}"/>
              </a:ext>
            </a:extLst>
          </p:cNvPr>
          <p:cNvSpPr>
            <a:spLocks noGrp="1"/>
          </p:cNvSpPr>
          <p:nvPr/>
        </p:nvSpPr>
        <p:spPr>
          <a:xfrm>
            <a:off x="5286375" y="2085975"/>
            <a:ext cx="238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B53B4B4-DB54-4D84-91FB-E760F4F9D0A1}"/>
              </a:ext>
            </a:extLst>
          </p:cNvPr>
          <p:cNvSpPr>
            <a:spLocks noGrp="1"/>
          </p:cNvSpPr>
          <p:nvPr/>
        </p:nvSpPr>
        <p:spPr>
          <a:xfrm>
            <a:off x="5591175" y="2047875"/>
            <a:ext cx="2667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どの評価を信じるか判断する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55B2C33-07F0-40FB-9E9A-B31B20E7054C}"/>
              </a:ext>
            </a:extLst>
          </p:cNvPr>
          <p:cNvSpPr>
            <a:spLocks noGrp="1"/>
          </p:cNvSpPr>
          <p:nvPr/>
        </p:nvSpPr>
        <p:spPr>
          <a:xfrm>
            <a:off x="5286375" y="2676525"/>
            <a:ext cx="238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18A73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8A73B"/>
                </a:solidFill>
                <a:latin typeface="Hiragino Sans"/>
                <a:ea typeface="Hiragino Sans"/>
                <a:cs typeface="Hiragino Sans"/>
              </a:rPr>
              <a:t>●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DF1701D-CC5C-47CD-A317-FCD6E2B63CFC}"/>
              </a:ext>
            </a:extLst>
          </p:cNvPr>
          <p:cNvSpPr>
            <a:spLocks noGrp="1"/>
          </p:cNvSpPr>
          <p:nvPr/>
        </p:nvSpPr>
        <p:spPr>
          <a:xfrm>
            <a:off x="5591175" y="2638425"/>
            <a:ext cx="2667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26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 dirty="0" err="1">
                <a:solidFill>
                  <a:srgbClr val="262626"/>
                </a:solidFill>
                <a:latin typeface="Hiragino Sans"/>
                <a:ea typeface="Hiragino Sans"/>
                <a:cs typeface="Hiragino Sans"/>
              </a:rPr>
              <a:t>提出を承認する</a:t>
            </a:r>
            <a:endParaRPr sz="1200" b="0" dirty="0">
              <a:solidFill>
                <a:srgbClr val="262626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CCD6D49-8B89-42F6-9705-C5A9FC90D115}"/>
              </a:ext>
            </a:extLst>
          </p:cNvPr>
          <p:cNvSpPr>
            <a:spLocks noGrp="1"/>
          </p:cNvSpPr>
          <p:nvPr/>
        </p:nvSpPr>
        <p:spPr>
          <a:xfrm>
            <a:off x="4572000" y="1343025"/>
            <a:ext cx="9525" cy="2047875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A39F3893-59D6-4536-89C7-4A8BE9907C35}"/>
              </a:ext>
            </a:extLst>
          </p:cNvPr>
          <p:cNvSpPr>
            <a:spLocks noGrp="1"/>
          </p:cNvSpPr>
          <p:nvPr/>
        </p:nvSpPr>
        <p:spPr>
          <a:xfrm>
            <a:off x="1143000" y="3724275"/>
            <a:ext cx="6858000" cy="704850"/>
          </a:xfrm>
          <a:prstGeom prst="roundRect">
            <a:avLst>
              <a:gd name="adj" fmla="val 9459"/>
            </a:avLst>
          </a:prstGeom>
          <a:solidFill>
            <a:srgbClr val="EAF5F8"/>
          </a:solidFill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7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sz="1400" b="1" dirty="0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Claude Code</a:t>
            </a:r>
            <a:r>
              <a:rPr lang="ja-JP" altLang="en-US" sz="14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だけで良いアイデアを出すのは難しい</a:t>
            </a:r>
            <a:endParaRPr lang="en-US" altLang="ja-JP" sz="1400" b="1" dirty="0">
              <a:solidFill>
                <a:srgbClr val="0580B2"/>
              </a:solidFill>
              <a:latin typeface="Hiragino Sans"/>
              <a:ea typeface="Hiragino Sans"/>
              <a:cs typeface="Hiragino Sans"/>
            </a:endParaRPr>
          </a:p>
          <a:p>
            <a:pPr algn="ctr">
              <a:defRPr sz="1725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defRPr>
            </a:pPr>
            <a:r>
              <a:rPr lang="ja-JP" altLang="en-US" sz="1400" b="1">
                <a:solidFill>
                  <a:srgbClr val="0580B2"/>
                </a:solidFill>
                <a:latin typeface="Hiragino Sans"/>
                <a:ea typeface="Hiragino Sans"/>
                <a:cs typeface="Hiragino Sans"/>
              </a:rPr>
              <a:t>そのために外部情報を収集させていたが、それでも人の介入は一定必要だった</a:t>
            </a:r>
            <a:endParaRPr sz="1400" b="1" dirty="0">
              <a:solidFill>
                <a:srgbClr val="0580B2"/>
              </a:solidFill>
              <a:latin typeface="Hiragino Sans"/>
              <a:ea typeface="Hiragino Sans"/>
              <a:cs typeface="Hiragino Sans"/>
            </a:endParaRPr>
          </a:p>
        </p:txBody>
      </p:sp>
      <p:pic>
        <p:nvPicPr>
          <p:cNvPr id="40" name="図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4163" y="4838700"/>
            <a:ext cx="392723" cy="152400"/>
          </a:xfrm>
          <a:prstGeom prst="rect">
            <a:avLst/>
          </a:prstGeom>
        </p:spPr>
      </p:pic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1C72245-CA80-42A5-8C6E-EAF3A3C1CBDE}"/>
              </a:ext>
            </a:extLst>
          </p:cNvPr>
          <p:cNvSpPr>
            <a:spLocks noGrp="1"/>
          </p:cNvSpPr>
          <p:nvPr/>
        </p:nvSpPr>
        <p:spPr>
          <a:xfrm>
            <a:off x="3429000" y="4819650"/>
            <a:ext cx="228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Kaggle Pokémon TCG AI Battle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77207F9E-4588-4B06-8209-3F05FC3D843B}"/>
              </a:ext>
            </a:extLst>
          </p:cNvPr>
          <p:cNvSpPr>
            <a:spLocks noGrp="1"/>
          </p:cNvSpPr>
          <p:nvPr/>
        </p:nvSpPr>
        <p:spPr>
          <a:xfrm>
            <a:off x="8572500" y="4819650"/>
            <a:ext cx="3048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defRPr>
            </a:pPr>
            <a:r>
              <a:rPr sz="600" b="0">
                <a:solidFill>
                  <a:srgbClr val="B6B6B6"/>
                </a:solidFill>
                <a:latin typeface="Hiragino Sans"/>
                <a:ea typeface="Hiragino Sans"/>
                <a:cs typeface="Hiragino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62345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1273</Words>
  <Application>Microsoft Macintosh PowerPoint</Application>
  <DocSecurity>0</DocSecurity>
  <PresentationFormat>画面に合わせる (16:9)</PresentationFormat>
  <Paragraphs>344</Paragraphs>
  <Slides>18</Slides>
  <Notes>18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1" baseType="lpstr">
      <vt:lpstr>Hiragino Sans</vt:lpstr>
      <vt:lpstr>Calibri</vt:lpstr>
      <vt:lpstr>ChatGPT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晃 伊藤</cp:lastModifiedBy>
  <cp:revision>1</cp:revision>
  <dcterms:created xsi:type="dcterms:W3CDTF">2026-09-09T14:34:34Z</dcterms:created>
  <dcterms:modified xsi:type="dcterms:W3CDTF">2026-09-15T04:52:50Z</dcterms:modified>
</cp:coreProperties>
</file>